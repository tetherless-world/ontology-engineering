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cdc.gov/infection-control/hcp/environmental-control/appendix-b-air.html" TargetMode="Externa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h4270295cdc892ad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h4270295cdc892ad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the core conceptual diagram we try to model mainly 4 kinds of behavioral properties seen in the use case;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/>
              <a:t>Connection between </a:t>
            </a:r>
            <a:r>
              <a:rPr i="1" lang="en"/>
              <a:t>room</a:t>
            </a:r>
            <a:r>
              <a:rPr lang="en"/>
              <a:t>s and </a:t>
            </a:r>
            <a:r>
              <a:rPr i="1" lang="en"/>
              <a:t>building service components</a:t>
            </a:r>
            <a:r>
              <a:rPr lang="en"/>
              <a:t>, and how that connection model which </a:t>
            </a:r>
            <a:r>
              <a:rPr i="1" lang="en"/>
              <a:t>building service system services </a:t>
            </a:r>
            <a:r>
              <a:rPr lang="en"/>
              <a:t>which </a:t>
            </a:r>
            <a:r>
              <a:rPr i="1" lang="en"/>
              <a:t>rooms.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/>
              <a:t>Associating </a:t>
            </a:r>
            <a:r>
              <a:rPr i="1" lang="en"/>
              <a:t>sensor measurements </a:t>
            </a:r>
            <a:r>
              <a:rPr lang="en"/>
              <a:t>recording at timestamps to </a:t>
            </a:r>
            <a:r>
              <a:rPr i="1" lang="en"/>
              <a:t>measurements </a:t>
            </a:r>
            <a:r>
              <a:rPr lang="en"/>
              <a:t>of the </a:t>
            </a:r>
            <a:r>
              <a:rPr i="1" lang="en"/>
              <a:t>room</a:t>
            </a:r>
            <a:r>
              <a:rPr lang="en"/>
              <a:t> of those </a:t>
            </a:r>
            <a:r>
              <a:rPr i="1" lang="en"/>
              <a:t>sensors</a:t>
            </a:r>
            <a:r>
              <a:rPr lang="en"/>
              <a:t> located in.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/>
              <a:t>Modeling </a:t>
            </a:r>
            <a:r>
              <a:rPr i="1" lang="en"/>
              <a:t>infection control compliance </a:t>
            </a:r>
            <a:r>
              <a:rPr lang="en"/>
              <a:t>with different </a:t>
            </a:r>
            <a:r>
              <a:rPr i="1" lang="en"/>
              <a:t>compliance policies</a:t>
            </a:r>
            <a:r>
              <a:rPr lang="en"/>
              <a:t> in those </a:t>
            </a:r>
            <a:r>
              <a:rPr i="1" lang="en"/>
              <a:t>compliance frameworks</a:t>
            </a:r>
            <a:r>
              <a:rPr lang="en"/>
              <a:t> and then represent which </a:t>
            </a:r>
            <a:r>
              <a:rPr i="1" lang="en"/>
              <a:t>measurement </a:t>
            </a:r>
            <a:r>
              <a:rPr lang="en"/>
              <a:t>that </a:t>
            </a:r>
            <a:r>
              <a:rPr i="1" lang="en"/>
              <a:t>compliance policies </a:t>
            </a:r>
            <a:r>
              <a:rPr lang="en"/>
              <a:t>checks for.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i="1" lang="en"/>
              <a:t>Compliance assessment </a:t>
            </a:r>
            <a:r>
              <a:rPr lang="en"/>
              <a:t>related to a </a:t>
            </a:r>
            <a:r>
              <a:rPr i="1" lang="en"/>
              <a:t>room </a:t>
            </a:r>
            <a:r>
              <a:rPr lang="en"/>
              <a:t>at </a:t>
            </a:r>
            <a:r>
              <a:rPr i="1" lang="en"/>
              <a:t>timestamps </a:t>
            </a:r>
            <a:r>
              <a:rPr lang="en"/>
              <a:t>that </a:t>
            </a:r>
            <a:r>
              <a:rPr i="1" lang="en"/>
              <a:t>building service system </a:t>
            </a:r>
            <a:r>
              <a:rPr lang="en"/>
              <a:t>has written </a:t>
            </a:r>
            <a:r>
              <a:rPr i="1" lang="en"/>
              <a:t>sensor measurements</a:t>
            </a:r>
            <a:r>
              <a:rPr lang="en"/>
              <a:t>. Here we model not only </a:t>
            </a:r>
            <a:r>
              <a:rPr i="1" lang="en"/>
              <a:t>compliance assessment </a:t>
            </a:r>
            <a:r>
              <a:rPr lang="en"/>
              <a:t>related to a </a:t>
            </a:r>
            <a:r>
              <a:rPr i="1" lang="en"/>
              <a:t>compliance framework</a:t>
            </a:r>
            <a:r>
              <a:rPr lang="en"/>
              <a:t> associated with </a:t>
            </a:r>
            <a:r>
              <a:rPr i="1" lang="en"/>
              <a:t>room</a:t>
            </a:r>
            <a:r>
              <a:rPr lang="en"/>
              <a:t> but also infer which </a:t>
            </a:r>
            <a:r>
              <a:rPr i="1" lang="en"/>
              <a:t>building service system </a:t>
            </a:r>
            <a:r>
              <a:rPr lang="en"/>
              <a:t>and </a:t>
            </a:r>
            <a:r>
              <a:rPr i="1" lang="en"/>
              <a:t>which building service component </a:t>
            </a:r>
            <a:r>
              <a:rPr lang="en"/>
              <a:t>in it related to the </a:t>
            </a:r>
            <a:r>
              <a:rPr i="1" lang="en"/>
              <a:t>compliance assessment </a:t>
            </a:r>
            <a:r>
              <a:rPr i="1" lang="en"/>
              <a:t>failure,</a:t>
            </a:r>
            <a:r>
              <a:rPr lang="en"/>
              <a:t> when such as scenarios appears in. 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h4270295cdc892ad7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h4270295cdc892ad7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this diagram we illustrate </a:t>
            </a:r>
            <a:r>
              <a:rPr i="1" lang="en"/>
              <a:t>building service component</a:t>
            </a:r>
            <a:r>
              <a:rPr lang="en"/>
              <a:t> taxonomy related to </a:t>
            </a:r>
            <a:r>
              <a:rPr i="1" lang="en"/>
              <a:t>HVAC system</a:t>
            </a:r>
            <a:r>
              <a:rPr lang="en"/>
              <a:t> and </a:t>
            </a:r>
            <a:r>
              <a:rPr i="1" lang="en"/>
              <a:t>building service component</a:t>
            </a:r>
            <a:r>
              <a:rPr lang="en"/>
              <a:t> construction via </a:t>
            </a:r>
            <a:r>
              <a:rPr i="1" lang="en"/>
              <a:t>partOf</a:t>
            </a:r>
            <a:r>
              <a:rPr lang="en"/>
              <a:t> relation. 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h4270295cdc892ad7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h4270295cdc892ad7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</a:t>
            </a:r>
            <a:r>
              <a:rPr lang="en"/>
              <a:t>diagram</a:t>
            </a:r>
            <a:r>
              <a:rPr lang="en"/>
              <a:t> illustrate </a:t>
            </a:r>
            <a:r>
              <a:rPr i="1" lang="en"/>
              <a:t>sensor measurement taxonomy, </a:t>
            </a:r>
            <a:r>
              <a:rPr lang="en"/>
              <a:t>specifically related to </a:t>
            </a:r>
            <a:r>
              <a:rPr i="1" lang="en"/>
              <a:t>HVAC system. 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h4270295cdc892ad7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h4270295cdc892ad7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illustrated </a:t>
            </a:r>
            <a:r>
              <a:rPr i="1" lang="en"/>
              <a:t>Sensors </a:t>
            </a:r>
            <a:r>
              <a:rPr lang="en"/>
              <a:t>appears in the </a:t>
            </a:r>
            <a:r>
              <a:rPr i="1" lang="en"/>
              <a:t>HVAC system</a:t>
            </a:r>
            <a:r>
              <a:rPr lang="en"/>
              <a:t> and </a:t>
            </a:r>
            <a:r>
              <a:rPr i="1" lang="en"/>
              <a:t>Sensor measurements, measured by </a:t>
            </a:r>
            <a:r>
              <a:rPr lang="en"/>
              <a:t>those </a:t>
            </a:r>
            <a:r>
              <a:rPr i="1" lang="en"/>
              <a:t>sensors.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h4270295cdc892ad7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h4270295cdc892ad7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this figure, we illustrate </a:t>
            </a:r>
            <a:r>
              <a:rPr i="1" lang="en"/>
              <a:t>compliance policies </a:t>
            </a:r>
            <a:r>
              <a:rPr lang="en"/>
              <a:t>defined in </a:t>
            </a:r>
            <a:r>
              <a:rPr i="1" lang="en"/>
              <a:t>cdc compliance framework</a:t>
            </a:r>
            <a:r>
              <a:rPr lang="en"/>
              <a:t> and on which </a:t>
            </a:r>
            <a:r>
              <a:rPr i="1" lang="en"/>
              <a:t>measures </a:t>
            </a:r>
            <a:r>
              <a:rPr lang="en"/>
              <a:t>those </a:t>
            </a:r>
            <a:r>
              <a:rPr i="1" lang="en"/>
              <a:t>compliance policies </a:t>
            </a:r>
            <a:r>
              <a:rPr lang="en"/>
              <a:t>evaluates on. 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h4270295cdc892ad7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h4270295cdc892ad7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figure illustrated how </a:t>
            </a:r>
            <a:r>
              <a:rPr i="1" lang="en"/>
              <a:t>measures</a:t>
            </a:r>
            <a:r>
              <a:rPr lang="en"/>
              <a:t> related to </a:t>
            </a:r>
            <a:r>
              <a:rPr i="1" lang="en"/>
              <a:t>CDC compliance policies</a:t>
            </a:r>
            <a:r>
              <a:rPr lang="en"/>
              <a:t> has been </a:t>
            </a:r>
            <a:r>
              <a:rPr i="1" lang="en"/>
              <a:t>derived</a:t>
            </a:r>
            <a:r>
              <a:rPr lang="en"/>
              <a:t> from the </a:t>
            </a:r>
            <a:r>
              <a:rPr i="1" lang="en"/>
              <a:t>sensor measurements</a:t>
            </a:r>
            <a:r>
              <a:rPr lang="en"/>
              <a:t> and </a:t>
            </a:r>
            <a:r>
              <a:rPr i="1" lang="en"/>
              <a:t>derived measure.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h4270295cdc892ad7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h4270295cdc892ad7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this figure we illustrate how different </a:t>
            </a:r>
            <a:r>
              <a:rPr i="1" lang="en"/>
              <a:t>building</a:t>
            </a:r>
            <a:r>
              <a:rPr i="1" lang="en"/>
              <a:t> service components</a:t>
            </a:r>
            <a:r>
              <a:rPr lang="en"/>
              <a:t> in </a:t>
            </a:r>
            <a:r>
              <a:rPr i="1" lang="en"/>
              <a:t>HVAC system</a:t>
            </a:r>
            <a:r>
              <a:rPr lang="en"/>
              <a:t> effects different </a:t>
            </a:r>
            <a:r>
              <a:rPr i="1" lang="en"/>
              <a:t>sensor measurements</a:t>
            </a:r>
            <a:r>
              <a:rPr lang="en"/>
              <a:t>. 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h4270295cdc892ad7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h4270295cdc892ad7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figure illustrates </a:t>
            </a:r>
            <a:r>
              <a:rPr i="1" lang="en"/>
              <a:t>healthcare facility (room) </a:t>
            </a:r>
            <a:r>
              <a:rPr lang="en"/>
              <a:t>taxonomy based on CDC Air compliance documentation : </a:t>
            </a:r>
            <a:r>
              <a:rPr lang="en" u="sng">
                <a:solidFill>
                  <a:schemeClr val="hlink"/>
                </a:solidFill>
                <a:hlinkClick r:id="rId2"/>
              </a:rPr>
              <a:t>https://www.cdc.gov/infection-control/hcp/environmental-control/appendix-b-air.html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h4270295cdc892ad7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h4270295cdc892ad7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Conceptual Diagram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CareAir Project</a:t>
            </a:r>
            <a:endParaRPr/>
          </a:p>
        </p:txBody>
      </p:sp>
      <p:cxnSp>
        <p:nvCxnSpPr>
          <p:cNvPr id="56" name="Google Shape;56;p13"/>
          <p:cNvCxnSpPr/>
          <p:nvPr/>
        </p:nvCxnSpPr>
        <p:spPr>
          <a:xfrm>
            <a:off x="319375" y="2791100"/>
            <a:ext cx="8449800" cy="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" name="Google Shape;57;p13"/>
          <p:cNvSpPr txBox="1"/>
          <p:nvPr/>
        </p:nvSpPr>
        <p:spPr>
          <a:xfrm>
            <a:off x="173575" y="4624075"/>
            <a:ext cx="835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990000"/>
                </a:solidFill>
              </a:rPr>
              <a:t>Please consider that the figure descriptions recorded as </a:t>
            </a:r>
            <a:r>
              <a:rPr i="1" lang="en">
                <a:solidFill>
                  <a:srgbClr val="990000"/>
                </a:solidFill>
              </a:rPr>
              <a:t>speaker</a:t>
            </a:r>
            <a:r>
              <a:rPr i="1" lang="en">
                <a:solidFill>
                  <a:srgbClr val="990000"/>
                </a:solidFill>
              </a:rPr>
              <a:t> notes. </a:t>
            </a:r>
            <a:endParaRPr i="1">
              <a:solidFill>
                <a:srgbClr val="99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 Conceptual Diagram</a:t>
            </a:r>
            <a:endParaRPr/>
          </a:p>
        </p:txBody>
      </p:sp>
      <p:cxnSp>
        <p:nvCxnSpPr>
          <p:cNvPr id="63" name="Google Shape;63;p14"/>
          <p:cNvCxnSpPr/>
          <p:nvPr/>
        </p:nvCxnSpPr>
        <p:spPr>
          <a:xfrm>
            <a:off x="-9175" y="577800"/>
            <a:ext cx="9162300" cy="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4" name="Google Shape;64;p14" title="Hospital Air Condition Compliance Project Diagram (3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2788" y="662625"/>
            <a:ext cx="7478420" cy="441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HVAC Component Taxonomy</a:t>
            </a:r>
            <a:endParaRPr/>
          </a:p>
        </p:txBody>
      </p:sp>
      <p:cxnSp>
        <p:nvCxnSpPr>
          <p:cNvPr id="70" name="Google Shape;70;p15"/>
          <p:cNvCxnSpPr/>
          <p:nvPr/>
        </p:nvCxnSpPr>
        <p:spPr>
          <a:xfrm>
            <a:off x="-9175" y="577800"/>
            <a:ext cx="9162300" cy="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1" name="Google Shape;71;p15" title="Hospital HVAC Compliance Project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1113" y="655675"/>
            <a:ext cx="5561713" cy="4418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Sensor Measurement Taxonomy</a:t>
            </a:r>
            <a:endParaRPr/>
          </a:p>
        </p:txBody>
      </p:sp>
      <p:cxnSp>
        <p:nvCxnSpPr>
          <p:cNvPr id="77" name="Google Shape;77;p16"/>
          <p:cNvCxnSpPr/>
          <p:nvPr/>
        </p:nvCxnSpPr>
        <p:spPr>
          <a:xfrm>
            <a:off x="-9175" y="577800"/>
            <a:ext cx="9162300" cy="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8" name="Google Shape;78;p16" title="Hospital Air Condition Compliance Project Sensor Taxonomy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8750" y="995938"/>
            <a:ext cx="5106452" cy="3151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Sensors to Sensor Measurement Relation Materization</a:t>
            </a:r>
            <a:endParaRPr/>
          </a:p>
        </p:txBody>
      </p:sp>
      <p:cxnSp>
        <p:nvCxnSpPr>
          <p:cNvPr id="84" name="Google Shape;84;p17"/>
          <p:cNvCxnSpPr/>
          <p:nvPr/>
        </p:nvCxnSpPr>
        <p:spPr>
          <a:xfrm>
            <a:off x="-9175" y="577800"/>
            <a:ext cx="9162300" cy="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5" name="Google Shape;85;p17" title="Hospital Air Condition Compliance Project Sensor Relation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9288" y="977050"/>
            <a:ext cx="6825375" cy="3189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CDC Compliance and Policy Taxonomy</a:t>
            </a:r>
            <a:endParaRPr/>
          </a:p>
        </p:txBody>
      </p:sp>
      <p:cxnSp>
        <p:nvCxnSpPr>
          <p:cNvPr id="91" name="Google Shape;91;p18"/>
          <p:cNvCxnSpPr/>
          <p:nvPr/>
        </p:nvCxnSpPr>
        <p:spPr>
          <a:xfrm>
            <a:off x="-9175" y="577800"/>
            <a:ext cx="9162300" cy="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2" name="Google Shape;92;p18" title="Hospital Air Condition Compliance Project (5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30238"/>
            <a:ext cx="8839204" cy="3483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Derived Measurement Taxonomy &amp; Property Materialization</a:t>
            </a:r>
            <a:endParaRPr/>
          </a:p>
        </p:txBody>
      </p:sp>
      <p:cxnSp>
        <p:nvCxnSpPr>
          <p:cNvPr id="98" name="Google Shape;98;p19"/>
          <p:cNvCxnSpPr/>
          <p:nvPr/>
        </p:nvCxnSpPr>
        <p:spPr>
          <a:xfrm>
            <a:off x="-9175" y="577800"/>
            <a:ext cx="9162300" cy="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9" name="Google Shape;99;p19" title="Hospital Air Condition Compliance Project Taxonom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25100"/>
            <a:ext cx="8839204" cy="3927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HVAC Component Effect on Measurements </a:t>
            </a:r>
            <a:endParaRPr/>
          </a:p>
        </p:txBody>
      </p:sp>
      <p:cxnSp>
        <p:nvCxnSpPr>
          <p:cNvPr id="105" name="Google Shape;105;p20"/>
          <p:cNvCxnSpPr/>
          <p:nvPr/>
        </p:nvCxnSpPr>
        <p:spPr>
          <a:xfrm>
            <a:off x="-9175" y="577800"/>
            <a:ext cx="9162300" cy="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6" name="Google Shape;106;p20" title="Hospital HVAC Compliance Project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0125" y="732050"/>
            <a:ext cx="6603756" cy="426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Healthcare</a:t>
            </a:r>
            <a:r>
              <a:rPr lang="en"/>
              <a:t> Facility (Room) Taxonomy</a:t>
            </a:r>
            <a:endParaRPr/>
          </a:p>
        </p:txBody>
      </p:sp>
      <p:cxnSp>
        <p:nvCxnSpPr>
          <p:cNvPr id="112" name="Google Shape;112;p21"/>
          <p:cNvCxnSpPr/>
          <p:nvPr/>
        </p:nvCxnSpPr>
        <p:spPr>
          <a:xfrm>
            <a:off x="-9175" y="577800"/>
            <a:ext cx="9162300" cy="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3" name="Google Shape;113;p21" title="Hospital Air Condition Compliance Project (6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4450" y="669550"/>
            <a:ext cx="5075103" cy="4418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 Conceptual Diagram</a:t>
            </a:r>
            <a:endParaRPr/>
          </a:p>
        </p:txBody>
      </p:sp>
      <p:cxnSp>
        <p:nvCxnSpPr>
          <p:cNvPr id="119" name="Google Shape;119;p22"/>
          <p:cNvCxnSpPr/>
          <p:nvPr/>
        </p:nvCxnSpPr>
        <p:spPr>
          <a:xfrm>
            <a:off x="-9175" y="577800"/>
            <a:ext cx="9162300" cy="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
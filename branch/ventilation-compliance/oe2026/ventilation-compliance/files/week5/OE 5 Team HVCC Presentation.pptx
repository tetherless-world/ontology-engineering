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Play"/>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Play-regular.fnt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h31bb297909741ffa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h31bb297909741ffa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31bb297909741ff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31bb297909741ff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h31bb297909741ffa_6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h31bb297909741ffa_6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1bb297909741ffa_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1bb297909741ffa_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31bb297909741ffa_8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31bb297909741ffa_8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321dc015a1e3fc1a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321dc015a1e3fc1a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31bb297909741ffa_8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31bb297909741ffa_8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31bb297909741ffa_8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31bb297909741ffa_8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27a161a89c69b95d_2_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h27a161a89c69b95d_2_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For my part, I will focus on the classes highlighted in red and explain how they connect the physical HVAC system to the compliance assessment process. The main story is: we start from a building service system and its components, collect measurements, put those measurements into an assessment context, and then compare the actual measurement values with the requirements in the compliance policies.</a:t>
            </a:r>
            <a:endParaRPr/>
          </a:p>
        </p:txBody>
      </p:sp>
      <p:sp>
        <p:nvSpPr>
          <p:cNvPr id="132" name="Google Shape;132;h27a161a89c69b95d_2_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27a161a89c69b95d_2_27: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h27a161a89c69b95d_2_27: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First, we have BuildingServiceSystem and BuildingServiceComponent. A BuildingServiceSystem represents a service system in the building, such as an HVAC system. A BuildingServiceComponent represents the individual components that belong to that system, such as a fan, duct, or VAV box. These components can affect conditions in the building, so they can influence the measurements that we collect. For example, a VAV box can affect the airflow going into a room, and that airflow can later be used to calculate air changes per hour.</a:t>
            </a:r>
            <a:endParaRPr/>
          </a:p>
        </p:txBody>
      </p:sp>
      <p:sp>
        <p:nvSpPr>
          <p:cNvPr id="156" name="Google Shape;156;h27a161a89c69b95d_2_27: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h27a161a89c69b95d_2_50: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h27a161a89c69b95d_2_50: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leads to the Measurement class. Measurement represents the actual numerical data used in the model, such as airflow, temperature, humidity, or air changes per hour. It contains a numerical value and can be associated with a room and a time. Then the measurement connects to AssessmentContext through the hasMeasure relationship. I think of AssessmentContext as the input or background information for an assessment. It tells us which room we are evaluating and which measurements are relevant for that room.</a:t>
            </a:r>
            <a:endParaRPr/>
          </a:p>
        </p:txBody>
      </p:sp>
      <p:sp>
        <p:nvSpPr>
          <p:cNvPr id="179" name="Google Shape;179;h27a161a89c69b95d_2_50: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h27a161a89c69b95d_2_76: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h27a161a89c69b95d_2_76: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Next, ComplianceAssessment uses the context. ComplianceAssessment represents the overall evaluation of whether the room or building system satisfies the required standards. One ComplianceAssessment can contain multiple PolicyAssessments, because one room may need to check several requirements, such as airflow, humidity, and temperature. Each PolicyAssessment evaluates one specific CompliancePolicy. The CompliancePolicy defines the actual requirement, including minimum and maximum values.</a:t>
            </a:r>
            <a:endParaRPr/>
          </a:p>
        </p:txBody>
      </p:sp>
      <p:sp>
        <p:nvSpPr>
          <p:cNvPr id="205" name="Google Shape;205;h27a161a89c69b95d_2_76: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27a161a89c69b95d_2_102:notes"/>
          <p:cNvSpPr/>
          <p:nvPr>
            <p:ph idx="2" type="sldImg"/>
          </p:nvPr>
        </p:nvSpPr>
        <p:spPr>
          <a:xfrm>
            <a:off x="685727" y="857273"/>
            <a:ext cx="5486546" cy="23146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h27a161a89c69b95d_2_102:notes"/>
          <p:cNvSpPr txBox="1"/>
          <p:nvPr>
            <p:ph idx="1" type="body"/>
          </p:nvPr>
        </p:nvSpPr>
        <p:spPr>
          <a:xfrm>
            <a:off x="685800" y="3300500"/>
            <a:ext cx="5486400" cy="270040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For example, suppose a room has an actual ACH measurement of 8, while the compliance policy requires a minimum ACH of 12. The measurement gives us the actual value. The policy gives us the required value. The PolicyAssessment compares them. Since 8 is below 12, the system can determine that this specific requirement is not satisfied. So overall, my part connects the physical HVAC system, the measured building data, and the compliance rules, allowing the ontology to support an automated compliance assessment.</a:t>
            </a:r>
            <a:endParaRPr/>
          </a:p>
        </p:txBody>
      </p:sp>
      <p:sp>
        <p:nvSpPr>
          <p:cNvPr id="231" name="Google Shape;231;h27a161a89c69b95d_2_102:notes"/>
          <p:cNvSpPr txBox="1"/>
          <p:nvPr>
            <p:ph idx="12" type="sldNum"/>
          </p:nvPr>
        </p:nvSpPr>
        <p:spPr>
          <a:xfrm>
            <a:off x="3884613" y="6514083"/>
            <a:ext cx="2971800" cy="344099"/>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321dc015a1e3fc1a_6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h321dc015a1e3fc1a_6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5"/>
          <p:cNvSpPr txBox="1"/>
          <p:nvPr/>
        </p:nvSpPr>
        <p:spPr>
          <a:xfrm>
            <a:off x="311700" y="2892775"/>
            <a:ext cx="8520600" cy="792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1086">
                <a:solidFill>
                  <a:srgbClr val="000000"/>
                </a:solidFill>
                <a:latin typeface="Play"/>
                <a:ea typeface="Play"/>
                <a:cs typeface="Play"/>
                <a:sym typeface="Play"/>
              </a:rPr>
              <a:t>Team HVCC   :   Ahosan Habib  ·  Nipun Deelaka ·  Andy Cheng  ·  Carina Liu</a:t>
            </a:r>
            <a:endParaRPr b="1" sz="1086">
              <a:latin typeface="Play"/>
              <a:ea typeface="Play"/>
              <a:cs typeface="Play"/>
              <a:sym typeface="Play"/>
            </a:endParaRPr>
          </a:p>
          <a:p>
            <a:pPr indent="0" lvl="0" marL="0" rtl="0" algn="l">
              <a:spcBef>
                <a:spcPts val="0"/>
              </a:spcBef>
              <a:spcAft>
                <a:spcPts val="0"/>
              </a:spcAft>
              <a:buNone/>
            </a:pPr>
            <a:r>
              <a:t/>
            </a:r>
            <a:endParaRPr b="1" sz="1086">
              <a:latin typeface="Play"/>
              <a:ea typeface="Play"/>
              <a:cs typeface="Play"/>
              <a:sym typeface="Play"/>
            </a:endParaRPr>
          </a:p>
          <a:p>
            <a:pPr indent="0" lvl="0" marL="0" rtl="0" algn="l">
              <a:spcBef>
                <a:spcPts val="0"/>
              </a:spcBef>
              <a:spcAft>
                <a:spcPts val="0"/>
              </a:spcAft>
              <a:buNone/>
            </a:pPr>
            <a:r>
              <a:rPr b="1" lang="en" sz="1086">
                <a:solidFill>
                  <a:srgbClr val="000000"/>
                </a:solidFill>
                <a:latin typeface="Play"/>
                <a:ea typeface="Play"/>
                <a:cs typeface="Play"/>
                <a:sym typeface="Play"/>
              </a:rPr>
              <a:t>Ontology Engineering 2026 (CSCI 6340)   ·   Assignment </a:t>
            </a:r>
            <a:r>
              <a:rPr b="1" lang="en" sz="1086">
                <a:latin typeface="Play"/>
                <a:ea typeface="Play"/>
                <a:cs typeface="Play"/>
                <a:sym typeface="Play"/>
              </a:rPr>
              <a:t>5</a:t>
            </a:r>
            <a:r>
              <a:rPr b="1" lang="en" sz="1086">
                <a:solidFill>
                  <a:srgbClr val="000000"/>
                </a:solidFill>
                <a:latin typeface="Play"/>
                <a:ea typeface="Play"/>
                <a:cs typeface="Play"/>
                <a:sym typeface="Play"/>
              </a:rPr>
              <a:t>   ·   Use Case Presentation</a:t>
            </a:r>
            <a:endParaRPr sz="2800">
              <a:solidFill>
                <a:srgbClr val="595959"/>
              </a:solidFill>
              <a:latin typeface="Play"/>
              <a:ea typeface="Play"/>
              <a:cs typeface="Play"/>
              <a:sym typeface="Play"/>
            </a:endParaRPr>
          </a:p>
        </p:txBody>
      </p:sp>
      <p:sp>
        <p:nvSpPr>
          <p:cNvPr id="57" name="Google Shape;57;p15"/>
          <p:cNvSpPr txBox="1"/>
          <p:nvPr>
            <p:ph idx="4294967295" type="title"/>
          </p:nvPr>
        </p:nvSpPr>
        <p:spPr>
          <a:xfrm>
            <a:off x="311700" y="1579050"/>
            <a:ext cx="8520600" cy="1242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3300">
                <a:solidFill>
                  <a:srgbClr val="1D3557"/>
                </a:solidFill>
                <a:latin typeface="Play"/>
                <a:ea typeface="Play"/>
                <a:cs typeface="Play"/>
                <a:sym typeface="Play"/>
              </a:rPr>
              <a:t>CareAir: Explainable Reasoning for Healthcare Ventilation Compliance</a:t>
            </a:r>
            <a:endParaRPr sz="4100"/>
          </a:p>
        </p:txBody>
      </p:sp>
      <p:sp>
        <p:nvSpPr>
          <p:cNvPr id="58" name="Google Shape;58;p15"/>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6"/>
          <p:cNvPicPr preferRelativeResize="0"/>
          <p:nvPr/>
        </p:nvPicPr>
        <p:blipFill>
          <a:blip r:embed="rId3">
            <a:alphaModFix/>
          </a:blip>
          <a:stretch>
            <a:fillRect/>
          </a:stretch>
        </p:blipFill>
        <p:spPr>
          <a:xfrm>
            <a:off x="123875" y="971701"/>
            <a:ext cx="4903026" cy="2830549"/>
          </a:xfrm>
          <a:prstGeom prst="rect">
            <a:avLst/>
          </a:prstGeom>
          <a:noFill/>
          <a:ln>
            <a:noFill/>
          </a:ln>
        </p:spPr>
      </p:pic>
      <p:sp>
        <p:nvSpPr>
          <p:cNvPr id="64" name="Google Shape;64;p16"/>
          <p:cNvSpPr txBox="1"/>
          <p:nvPr>
            <p:ph idx="4294967295" type="title"/>
          </p:nvPr>
        </p:nvSpPr>
        <p:spPr>
          <a:xfrm>
            <a:off x="489475" y="3802250"/>
            <a:ext cx="386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5132"/>
              <a:buNone/>
            </a:pPr>
            <a:r>
              <a:rPr lang="en" sz="1520"/>
              <a:t>Air Imbalance = Supply − Return − Exhaust</a:t>
            </a:r>
            <a:endParaRPr sz="1520"/>
          </a:p>
          <a:p>
            <a:pPr indent="0" lvl="0" marL="0" rtl="0" algn="l">
              <a:spcBef>
                <a:spcPts val="0"/>
              </a:spcBef>
              <a:spcAft>
                <a:spcPts val="0"/>
              </a:spcAft>
              <a:buSzPct val="65132"/>
              <a:buNone/>
            </a:pPr>
            <a:r>
              <a:rPr lang="en" sz="1520"/>
              <a:t>Pressure sense = ± (Air Imbalance)</a:t>
            </a:r>
            <a:endParaRPr sz="1520"/>
          </a:p>
        </p:txBody>
      </p:sp>
      <p:pic>
        <p:nvPicPr>
          <p:cNvPr id="65" name="Google Shape;65;p16"/>
          <p:cNvPicPr preferRelativeResize="0"/>
          <p:nvPr/>
        </p:nvPicPr>
        <p:blipFill>
          <a:blip r:embed="rId4">
            <a:alphaModFix/>
          </a:blip>
          <a:stretch>
            <a:fillRect/>
          </a:stretch>
        </p:blipFill>
        <p:spPr>
          <a:xfrm>
            <a:off x="5915350" y="1245550"/>
            <a:ext cx="2999575" cy="3284724"/>
          </a:xfrm>
          <a:prstGeom prst="rect">
            <a:avLst/>
          </a:prstGeom>
          <a:noFill/>
          <a:ln>
            <a:noFill/>
          </a:ln>
        </p:spPr>
      </p:pic>
      <p:sp>
        <p:nvSpPr>
          <p:cNvPr id="66" name="Google Shape;66;p16"/>
          <p:cNvSpPr txBox="1"/>
          <p:nvPr>
            <p:ph idx="4294967295" type="title"/>
          </p:nvPr>
        </p:nvSpPr>
        <p:spPr>
          <a:xfrm>
            <a:off x="311700" y="225950"/>
            <a:ext cx="8520600" cy="58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D3557"/>
                </a:solidFill>
                <a:latin typeface="Play"/>
                <a:ea typeface="Play"/>
                <a:cs typeface="Play"/>
                <a:sym typeface="Play"/>
              </a:rPr>
              <a:t>An Instance of a Hospital Scenario</a:t>
            </a:r>
            <a:endParaRPr/>
          </a:p>
        </p:txBody>
      </p:sp>
      <p:sp>
        <p:nvSpPr>
          <p:cNvPr id="67" name="Google Shape;67;p16"/>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3" name="Google Shape;73;p17" title="illustrative_figure.gif"/>
          <p:cNvPicPr preferRelativeResize="0"/>
          <p:nvPr/>
        </p:nvPicPr>
        <p:blipFill>
          <a:blip r:embed="rId3">
            <a:alphaModFix/>
          </a:blip>
          <a:stretch>
            <a:fillRect/>
          </a:stretch>
        </p:blipFill>
        <p:spPr>
          <a:xfrm>
            <a:off x="1354538" y="660075"/>
            <a:ext cx="6434924" cy="4200576"/>
          </a:xfrm>
          <a:prstGeom prst="rect">
            <a:avLst/>
          </a:prstGeom>
          <a:noFill/>
          <a:ln>
            <a:noFill/>
          </a:ln>
        </p:spPr>
      </p:pic>
      <p:sp>
        <p:nvSpPr>
          <p:cNvPr id="74" name="Google Shape;74;p17"/>
          <p:cNvSpPr txBox="1"/>
          <p:nvPr>
            <p:ph type="title"/>
          </p:nvPr>
        </p:nvSpPr>
        <p:spPr>
          <a:xfrm>
            <a:off x="311700" y="225950"/>
            <a:ext cx="8520600" cy="580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D3557"/>
                </a:solidFill>
                <a:latin typeface="Play"/>
                <a:ea typeface="Play"/>
                <a:cs typeface="Play"/>
                <a:sym typeface="Play"/>
              </a:rPr>
              <a:t>Usage Scenario</a:t>
            </a:r>
            <a:endParaRPr/>
          </a:p>
        </p:txBody>
      </p:sp>
      <p:sp>
        <p:nvSpPr>
          <p:cNvPr id="75" name="Google Shape;75;p17"/>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8" title="Hospital Air Condition Compliance Diagram (2).png"/>
          <p:cNvPicPr preferRelativeResize="0"/>
          <p:nvPr/>
        </p:nvPicPr>
        <p:blipFill>
          <a:blip r:embed="rId3">
            <a:alphaModFix/>
          </a:blip>
          <a:stretch>
            <a:fillRect/>
          </a:stretch>
        </p:blipFill>
        <p:spPr>
          <a:xfrm>
            <a:off x="187825" y="602300"/>
            <a:ext cx="8768338" cy="4420750"/>
          </a:xfrm>
          <a:prstGeom prst="rect">
            <a:avLst/>
          </a:prstGeom>
          <a:noFill/>
          <a:ln>
            <a:noFill/>
          </a:ln>
        </p:spPr>
      </p:pic>
      <p:sp>
        <p:nvSpPr>
          <p:cNvPr id="81" name="Google Shape;81;p18"/>
          <p:cNvSpPr txBox="1"/>
          <p:nvPr>
            <p:ph type="title"/>
          </p:nvPr>
        </p:nvSpPr>
        <p:spPr>
          <a:xfrm>
            <a:off x="311700" y="225950"/>
            <a:ext cx="8520600" cy="49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D3557"/>
                </a:solidFill>
                <a:latin typeface="Play"/>
                <a:ea typeface="Play"/>
                <a:cs typeface="Play"/>
                <a:sym typeface="Play"/>
              </a:rPr>
              <a:t>Conceptual Model</a:t>
            </a:r>
            <a:endParaRPr/>
          </a:p>
        </p:txBody>
      </p:sp>
      <p:sp>
        <p:nvSpPr>
          <p:cNvPr id="82" name="Google Shape;82;p18"/>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9" title="Hospital Air Condition Compliance Diagram (1).png"/>
          <p:cNvPicPr preferRelativeResize="0"/>
          <p:nvPr/>
        </p:nvPicPr>
        <p:blipFill>
          <a:blip r:embed="rId3">
            <a:alphaModFix/>
          </a:blip>
          <a:stretch>
            <a:fillRect/>
          </a:stretch>
        </p:blipFill>
        <p:spPr>
          <a:xfrm>
            <a:off x="578875" y="219700"/>
            <a:ext cx="7986248" cy="4704100"/>
          </a:xfrm>
          <a:prstGeom prst="rect">
            <a:avLst/>
          </a:prstGeom>
          <a:noFill/>
          <a:ln>
            <a:noFill/>
          </a:ln>
        </p:spPr>
      </p:pic>
      <p:sp>
        <p:nvSpPr>
          <p:cNvPr id="88" name="Google Shape;88;p19"/>
          <p:cNvSpPr txBox="1"/>
          <p:nvPr>
            <p:ph type="title"/>
          </p:nvPr>
        </p:nvSpPr>
        <p:spPr>
          <a:xfrm>
            <a:off x="311700" y="225950"/>
            <a:ext cx="8520600" cy="49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55000"/>
              <a:buFont typeface="Arial"/>
              <a:buNone/>
            </a:pPr>
            <a:r>
              <a:rPr b="1" lang="en" sz="2000">
                <a:solidFill>
                  <a:srgbClr val="1D3557"/>
                </a:solidFill>
                <a:latin typeface="Play"/>
                <a:ea typeface="Play"/>
                <a:cs typeface="Play"/>
                <a:sym typeface="Play"/>
              </a:rPr>
              <a:t>Conceptual Model</a:t>
            </a:r>
            <a:endParaRPr/>
          </a:p>
          <a:p>
            <a:pPr indent="0" lvl="0" marL="0" rtl="0" algn="l">
              <a:spcBef>
                <a:spcPts val="0"/>
              </a:spcBef>
              <a:spcAft>
                <a:spcPts val="0"/>
              </a:spcAft>
              <a:buNone/>
            </a:pPr>
            <a:r>
              <a:t/>
            </a:r>
            <a:endParaRPr b="1" sz="2000">
              <a:solidFill>
                <a:srgbClr val="1D3557"/>
              </a:solidFill>
              <a:latin typeface="Play"/>
              <a:ea typeface="Play"/>
              <a:cs typeface="Play"/>
              <a:sym typeface="Play"/>
            </a:endParaRPr>
          </a:p>
        </p:txBody>
      </p:sp>
      <p:sp>
        <p:nvSpPr>
          <p:cNvPr id="89" name="Google Shape;89;p19"/>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0" title="Hospital Air Condition Compliance Project Diagram (4).png"/>
          <p:cNvPicPr preferRelativeResize="0"/>
          <p:nvPr/>
        </p:nvPicPr>
        <p:blipFill>
          <a:blip r:embed="rId3">
            <a:alphaModFix/>
          </a:blip>
          <a:stretch>
            <a:fillRect/>
          </a:stretch>
        </p:blipFill>
        <p:spPr>
          <a:xfrm>
            <a:off x="781813" y="331700"/>
            <a:ext cx="7580375" cy="4480089"/>
          </a:xfrm>
          <a:prstGeom prst="rect">
            <a:avLst/>
          </a:prstGeom>
          <a:noFill/>
          <a:ln>
            <a:noFill/>
          </a:ln>
        </p:spPr>
      </p:pic>
      <p:sp>
        <p:nvSpPr>
          <p:cNvPr id="95" name="Google Shape;95;p20"/>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20"/>
          <p:cNvSpPr txBox="1"/>
          <p:nvPr>
            <p:ph type="title"/>
          </p:nvPr>
        </p:nvSpPr>
        <p:spPr>
          <a:xfrm>
            <a:off x="311700" y="225950"/>
            <a:ext cx="8520600" cy="496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000">
                <a:solidFill>
                  <a:srgbClr val="1D3557"/>
                </a:solidFill>
                <a:latin typeface="Play"/>
                <a:ea typeface="Play"/>
                <a:cs typeface="Play"/>
                <a:sym typeface="Play"/>
              </a:rPr>
              <a:t>Conceptual Model</a:t>
            </a:r>
            <a:endParaRPr/>
          </a:p>
          <a:p>
            <a:pPr indent="0" lvl="0" marL="0" rtl="0" algn="l">
              <a:spcBef>
                <a:spcPts val="0"/>
              </a:spcBef>
              <a:spcAft>
                <a:spcPts val="0"/>
              </a:spcAft>
              <a:buNone/>
            </a:pPr>
            <a:r>
              <a:t/>
            </a:r>
            <a:endParaRPr b="1" sz="2000">
              <a:solidFill>
                <a:srgbClr val="1D3557"/>
              </a:solidFill>
              <a:latin typeface="Play"/>
              <a:ea typeface="Play"/>
              <a:cs typeface="Play"/>
              <a:sym typeface="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225950"/>
            <a:ext cx="8520600" cy="772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2000">
                <a:solidFill>
                  <a:srgbClr val="1D3557"/>
                </a:solidFill>
                <a:latin typeface="Play"/>
                <a:ea typeface="Play"/>
                <a:cs typeface="Play"/>
                <a:sym typeface="Play"/>
              </a:rPr>
              <a:t>Competency Question 1: Which airborne infection isolation rooms are currently failing their required negative pressure differential?</a:t>
            </a:r>
            <a:endParaRPr b="1"/>
          </a:p>
        </p:txBody>
      </p:sp>
      <p:sp>
        <p:nvSpPr>
          <p:cNvPr id="102" name="Google Shape;102;p21"/>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b="1"/>
          </a:p>
        </p:txBody>
      </p:sp>
      <p:sp>
        <p:nvSpPr>
          <p:cNvPr id="103" name="Google Shape;103;p21"/>
          <p:cNvSpPr/>
          <p:nvPr/>
        </p:nvSpPr>
        <p:spPr>
          <a:xfrm>
            <a:off x="406153" y="1167285"/>
            <a:ext cx="2045100" cy="3774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2569"/>
              <a:buFont typeface="Arial"/>
              <a:buNone/>
            </a:pPr>
            <a:r>
              <a:rPr b="1" lang="en" sz="1797">
                <a:solidFill>
                  <a:srgbClr val="C85C5C"/>
                </a:solidFill>
              </a:rPr>
              <a:t>Context</a:t>
            </a:r>
            <a:endParaRPr b="0" i="0" sz="1797" u="none" cap="none" strike="noStrike">
              <a:solidFill>
                <a:schemeClr val="dk1"/>
              </a:solidFill>
              <a:latin typeface="Arial"/>
              <a:ea typeface="Arial"/>
              <a:cs typeface="Arial"/>
              <a:sym typeface="Arial"/>
            </a:endParaRPr>
          </a:p>
        </p:txBody>
      </p:sp>
      <p:sp>
        <p:nvSpPr>
          <p:cNvPr id="104" name="Google Shape;104;p21"/>
          <p:cNvSpPr/>
          <p:nvPr/>
        </p:nvSpPr>
        <p:spPr>
          <a:xfrm>
            <a:off x="413469" y="1443793"/>
            <a:ext cx="2291700" cy="27150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Clr>
                <a:srgbClr val="1F2937"/>
              </a:buClr>
              <a:buSzPts val="1598"/>
              <a:buFont typeface="Arial"/>
              <a:buNone/>
            </a:pPr>
            <a:r>
              <a:rPr lang="en" sz="1620">
                <a:solidFill>
                  <a:schemeClr val="dk1"/>
                </a:solidFill>
              </a:rPr>
              <a:t>Imagine an infection preventionist needs to immediately place a highly contagious patient, but they cannot trust an outdated spreadsheet. They need live data.</a:t>
            </a:r>
            <a:endParaRPr sz="1620">
              <a:solidFill>
                <a:schemeClr val="dk1"/>
              </a:solidFill>
            </a:endParaRPr>
          </a:p>
          <a:p>
            <a:pPr indent="0" lvl="0" marL="0" marR="0" rtl="0" algn="l">
              <a:spcBef>
                <a:spcPts val="0"/>
              </a:spcBef>
              <a:spcAft>
                <a:spcPts val="0"/>
              </a:spcAft>
              <a:buClr>
                <a:srgbClr val="1F2937"/>
              </a:buClr>
              <a:buSzPts val="2019"/>
              <a:buFont typeface="Arial"/>
              <a:buNone/>
            </a:pPr>
            <a:r>
              <a:t/>
            </a:r>
            <a:endParaRPr sz="2019">
              <a:solidFill>
                <a:srgbClr val="1F2937"/>
              </a:solidFill>
            </a:endParaRPr>
          </a:p>
        </p:txBody>
      </p:sp>
      <p:sp>
        <p:nvSpPr>
          <p:cNvPr id="105" name="Google Shape;105;p21"/>
          <p:cNvSpPr/>
          <p:nvPr/>
        </p:nvSpPr>
        <p:spPr>
          <a:xfrm>
            <a:off x="2978400" y="1048626"/>
            <a:ext cx="5853900" cy="825000"/>
          </a:xfrm>
          <a:prstGeom prst="roundRect">
            <a:avLst>
              <a:gd fmla="val 9756" name="adj"/>
            </a:avLst>
          </a:prstGeom>
          <a:solidFill>
            <a:srgbClr val="F8FBFC"/>
          </a:solidFill>
          <a:ln cap="flat" cmpd="sng" w="16100">
            <a:solidFill>
              <a:srgbClr val="C9D6DC"/>
            </a:solidFill>
            <a:prstDash val="solid"/>
            <a:round/>
            <a:headEnd len="sm" w="sm" type="none"/>
            <a:tailEnd len="sm" w="sm" type="none"/>
          </a:ln>
        </p:spPr>
        <p:txBody>
          <a:bodyPr anchorCtr="0" anchor="ctr" bIns="96600" lIns="96600" spcFirstLastPara="1" rIns="96600" wrap="square" tIns="96600">
            <a:noAutofit/>
          </a:bodyPr>
          <a:lstStyle/>
          <a:p>
            <a:pPr indent="0" lvl="0" marL="0" rtl="0" algn="l">
              <a:spcBef>
                <a:spcPts val="0"/>
              </a:spcBef>
              <a:spcAft>
                <a:spcPts val="0"/>
              </a:spcAft>
              <a:buNone/>
            </a:pPr>
            <a:r>
              <a:t/>
            </a:r>
            <a:endParaRPr/>
          </a:p>
        </p:txBody>
      </p:sp>
      <p:sp>
        <p:nvSpPr>
          <p:cNvPr id="106" name="Google Shape;106;p21"/>
          <p:cNvSpPr/>
          <p:nvPr/>
        </p:nvSpPr>
        <p:spPr>
          <a:xfrm>
            <a:off x="3136901" y="1134527"/>
            <a:ext cx="5537100" cy="2718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b="1" lang="en" sz="1268">
                <a:solidFill>
                  <a:srgbClr val="18324A"/>
                </a:solidFill>
                <a:latin typeface="Verdana"/>
                <a:ea typeface="Verdana"/>
                <a:cs typeface="Verdana"/>
                <a:sym typeface="Verdana"/>
              </a:rPr>
              <a:t>1  Requirement</a:t>
            </a:r>
            <a:endParaRPr sz="1549"/>
          </a:p>
        </p:txBody>
      </p:sp>
      <p:sp>
        <p:nvSpPr>
          <p:cNvPr id="107" name="Google Shape;107;p21"/>
          <p:cNvSpPr/>
          <p:nvPr/>
        </p:nvSpPr>
        <p:spPr>
          <a:xfrm>
            <a:off x="3136901" y="1332663"/>
            <a:ext cx="5537100" cy="2820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lang="en" sz="1327">
                <a:solidFill>
                  <a:srgbClr val="17252F"/>
                </a:solidFill>
              </a:rPr>
              <a:t>The system sees that Room 4E-12 is an Isolation Room, so it automatically pulls the strict policy that says it must be at -2.5 Pascals. </a:t>
            </a:r>
            <a:endParaRPr sz="1749"/>
          </a:p>
        </p:txBody>
      </p:sp>
      <p:sp>
        <p:nvSpPr>
          <p:cNvPr id="108" name="Google Shape;108;p21"/>
          <p:cNvSpPr/>
          <p:nvPr/>
        </p:nvSpPr>
        <p:spPr>
          <a:xfrm>
            <a:off x="2978400" y="2044674"/>
            <a:ext cx="5853900" cy="825000"/>
          </a:xfrm>
          <a:prstGeom prst="roundRect">
            <a:avLst>
              <a:gd fmla="val 9756" name="adj"/>
            </a:avLst>
          </a:prstGeom>
          <a:solidFill>
            <a:srgbClr val="F8FBFC"/>
          </a:solidFill>
          <a:ln cap="flat" cmpd="sng" w="16100">
            <a:solidFill>
              <a:srgbClr val="C9D6DC"/>
            </a:solidFill>
            <a:prstDash val="solid"/>
            <a:round/>
            <a:headEnd len="sm" w="sm" type="none"/>
            <a:tailEnd len="sm" w="sm" type="none"/>
          </a:ln>
        </p:spPr>
        <p:txBody>
          <a:bodyPr anchorCtr="0" anchor="ctr" bIns="96600" lIns="96600" spcFirstLastPara="1" rIns="96600" wrap="square" tIns="96600">
            <a:noAutofit/>
          </a:bodyPr>
          <a:lstStyle/>
          <a:p>
            <a:pPr indent="0" lvl="0" marL="0" rtl="0" algn="l">
              <a:spcBef>
                <a:spcPts val="0"/>
              </a:spcBef>
              <a:spcAft>
                <a:spcPts val="0"/>
              </a:spcAft>
              <a:buNone/>
            </a:pPr>
            <a:r>
              <a:t/>
            </a:r>
            <a:endParaRPr/>
          </a:p>
        </p:txBody>
      </p:sp>
      <p:sp>
        <p:nvSpPr>
          <p:cNvPr id="109" name="Google Shape;109;p21"/>
          <p:cNvSpPr/>
          <p:nvPr/>
        </p:nvSpPr>
        <p:spPr>
          <a:xfrm>
            <a:off x="3136901" y="2130576"/>
            <a:ext cx="5537100" cy="2718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b="1" lang="en" sz="1268">
                <a:solidFill>
                  <a:srgbClr val="18324A"/>
                </a:solidFill>
                <a:latin typeface="Verdana"/>
                <a:ea typeface="Verdana"/>
                <a:cs typeface="Verdana"/>
                <a:sym typeface="Verdana"/>
              </a:rPr>
              <a:t>2  Live Data</a:t>
            </a:r>
            <a:endParaRPr sz="1549"/>
          </a:p>
        </p:txBody>
      </p:sp>
      <p:sp>
        <p:nvSpPr>
          <p:cNvPr id="110" name="Google Shape;110;p21"/>
          <p:cNvSpPr/>
          <p:nvPr/>
        </p:nvSpPr>
        <p:spPr>
          <a:xfrm>
            <a:off x="3136901" y="2361195"/>
            <a:ext cx="5537100" cy="2820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lang="en" sz="1327">
                <a:solidFill>
                  <a:srgbClr val="17252F"/>
                </a:solidFill>
              </a:rPr>
              <a:t>It queries the physical sensors in that exact room to see what the pressure is right now—let's say it's -0.8 Pascals. </a:t>
            </a:r>
            <a:endParaRPr sz="1749"/>
          </a:p>
        </p:txBody>
      </p:sp>
      <p:sp>
        <p:nvSpPr>
          <p:cNvPr id="111" name="Google Shape;111;p21"/>
          <p:cNvSpPr/>
          <p:nvPr/>
        </p:nvSpPr>
        <p:spPr>
          <a:xfrm>
            <a:off x="2978400" y="3040726"/>
            <a:ext cx="5853900" cy="1152900"/>
          </a:xfrm>
          <a:prstGeom prst="roundRect">
            <a:avLst>
              <a:gd fmla="val 9756" name="adj"/>
            </a:avLst>
          </a:prstGeom>
          <a:solidFill>
            <a:srgbClr val="F8FBFC"/>
          </a:solidFill>
          <a:ln cap="flat" cmpd="sng" w="16100">
            <a:solidFill>
              <a:srgbClr val="C9D6DC"/>
            </a:solidFill>
            <a:prstDash val="solid"/>
            <a:round/>
            <a:headEnd len="sm" w="sm" type="none"/>
            <a:tailEnd len="sm" w="sm" type="none"/>
          </a:ln>
        </p:spPr>
        <p:txBody>
          <a:bodyPr anchorCtr="0" anchor="ctr" bIns="96600" lIns="96600" spcFirstLastPara="1" rIns="96600" wrap="square" tIns="96600">
            <a:noAutofit/>
          </a:bodyPr>
          <a:lstStyle/>
          <a:p>
            <a:pPr indent="0" lvl="0" marL="0" rtl="0" algn="l">
              <a:spcBef>
                <a:spcPts val="0"/>
              </a:spcBef>
              <a:spcAft>
                <a:spcPts val="0"/>
              </a:spcAft>
              <a:buNone/>
            </a:pPr>
            <a:r>
              <a:t/>
            </a:r>
            <a:endParaRPr/>
          </a:p>
        </p:txBody>
      </p:sp>
      <p:sp>
        <p:nvSpPr>
          <p:cNvPr id="112" name="Google Shape;112;p21"/>
          <p:cNvSpPr/>
          <p:nvPr/>
        </p:nvSpPr>
        <p:spPr>
          <a:xfrm>
            <a:off x="3136901" y="3177231"/>
            <a:ext cx="5537100" cy="2718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b="1" lang="en" sz="1268">
                <a:solidFill>
                  <a:srgbClr val="18324A"/>
                </a:solidFill>
                <a:latin typeface="Verdana"/>
                <a:ea typeface="Verdana"/>
                <a:cs typeface="Verdana"/>
                <a:sym typeface="Verdana"/>
              </a:rPr>
              <a:t>3  Comparison</a:t>
            </a:r>
            <a:endParaRPr sz="1549"/>
          </a:p>
        </p:txBody>
      </p:sp>
      <p:sp>
        <p:nvSpPr>
          <p:cNvPr id="113" name="Google Shape;113;p21"/>
          <p:cNvSpPr/>
          <p:nvPr/>
        </p:nvSpPr>
        <p:spPr>
          <a:xfrm>
            <a:off x="3136900" y="3392076"/>
            <a:ext cx="5537100" cy="592500"/>
          </a:xfrm>
          <a:prstGeom prst="rect">
            <a:avLst/>
          </a:prstGeom>
          <a:noFill/>
          <a:ln>
            <a:noFill/>
          </a:ln>
        </p:spPr>
        <p:txBody>
          <a:bodyPr anchorCtr="0" anchor="t" bIns="48275" lIns="96600" spcFirstLastPara="1" rIns="96600" wrap="square" tIns="48275">
            <a:noAutofit/>
          </a:bodyPr>
          <a:lstStyle/>
          <a:p>
            <a:pPr indent="0" lvl="0" marL="0" marR="0" rtl="0" algn="l">
              <a:spcBef>
                <a:spcPts val="0"/>
              </a:spcBef>
              <a:spcAft>
                <a:spcPts val="0"/>
              </a:spcAft>
              <a:buNone/>
            </a:pPr>
            <a:r>
              <a:rPr lang="en" sz="1327">
                <a:solidFill>
                  <a:srgbClr val="17252F"/>
                </a:solidFill>
              </a:rPr>
              <a:t>The system acts as an automated bridge, comparing the live reading (-0.8) against the requirement (-2.5). Because it falls short, it immediately flags the room as non-compliant. </a:t>
            </a:r>
            <a:endParaRPr sz="1749"/>
          </a:p>
        </p:txBody>
      </p:sp>
      <p:sp>
        <p:nvSpPr>
          <p:cNvPr id="114" name="Google Shape;114;p21"/>
          <p:cNvSpPr/>
          <p:nvPr/>
        </p:nvSpPr>
        <p:spPr>
          <a:xfrm>
            <a:off x="610500" y="4364675"/>
            <a:ext cx="7923000" cy="48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F2937"/>
              </a:buClr>
              <a:buSzPts val="1598"/>
              <a:buFont typeface="Arial"/>
              <a:buNone/>
            </a:pPr>
            <a:r>
              <a:t/>
            </a:r>
            <a:endParaRPr>
              <a:solidFill>
                <a:schemeClr val="dk1"/>
              </a:solidFill>
            </a:endParaRPr>
          </a:p>
          <a:p>
            <a:pPr indent="0" lvl="0" marL="0" marR="0" rtl="0" algn="l">
              <a:spcBef>
                <a:spcPts val="0"/>
              </a:spcBef>
              <a:spcAft>
                <a:spcPts val="0"/>
              </a:spcAft>
              <a:buClr>
                <a:srgbClr val="1F2937"/>
              </a:buClr>
              <a:buSzPts val="2019"/>
              <a:buFont typeface="Arial"/>
              <a:buNone/>
            </a:pPr>
            <a:r>
              <a:rPr b="1" lang="en" sz="1500">
                <a:solidFill>
                  <a:srgbClr val="C85C5C"/>
                </a:solidFill>
              </a:rPr>
              <a:t>System Answer - </a:t>
            </a:r>
            <a:r>
              <a:rPr lang="en" sz="1500">
                <a:solidFill>
                  <a:schemeClr val="dk1"/>
                </a:solidFill>
              </a:rPr>
              <a:t>Room 4E-12 is </a:t>
            </a:r>
            <a:r>
              <a:rPr b="1" lang="en" sz="1500">
                <a:solidFill>
                  <a:schemeClr val="dk1"/>
                </a:solidFill>
              </a:rPr>
              <a:t>NON-COMPLIANT</a:t>
            </a:r>
            <a:r>
              <a:rPr lang="en" sz="1500">
                <a:solidFill>
                  <a:schemeClr val="dk1"/>
                </a:solidFill>
              </a:rPr>
              <a:t>. (Reading: -0.8 Pa | Required: -2.5 Pa) </a:t>
            </a:r>
            <a:endParaRPr sz="1500">
              <a:solidFill>
                <a:srgbClr val="1F293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2" title="Hospital Air Condition Compliance Diagram (4).png"/>
          <p:cNvPicPr preferRelativeResize="0"/>
          <p:nvPr/>
        </p:nvPicPr>
        <p:blipFill>
          <a:blip r:embed="rId3">
            <a:alphaModFix/>
          </a:blip>
          <a:stretch>
            <a:fillRect/>
          </a:stretch>
        </p:blipFill>
        <p:spPr>
          <a:xfrm>
            <a:off x="324162" y="210329"/>
            <a:ext cx="8495677" cy="4869499"/>
          </a:xfrm>
          <a:prstGeom prst="rect">
            <a:avLst/>
          </a:prstGeom>
          <a:noFill/>
          <a:ln>
            <a:noFill/>
          </a:ln>
        </p:spPr>
      </p:pic>
      <p:sp>
        <p:nvSpPr>
          <p:cNvPr id="120" name="Google Shape;120;p22"/>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6" name="Google Shape;126;p23" title="Hospital Air Condition Compliance Project Diagram (5).png"/>
          <p:cNvPicPr preferRelativeResize="0"/>
          <p:nvPr/>
        </p:nvPicPr>
        <p:blipFill>
          <a:blip r:embed="rId3">
            <a:alphaModFix/>
          </a:blip>
          <a:stretch>
            <a:fillRect/>
          </a:stretch>
        </p:blipFill>
        <p:spPr>
          <a:xfrm>
            <a:off x="546749" y="249862"/>
            <a:ext cx="8050499" cy="4643782"/>
          </a:xfrm>
          <a:prstGeom prst="rect">
            <a:avLst/>
          </a:prstGeom>
          <a:noFill/>
          <a:ln>
            <a:noFill/>
          </a:ln>
        </p:spPr>
      </p:pic>
      <p:sp>
        <p:nvSpPr>
          <p:cNvPr id="127" name="Google Shape;127;p23"/>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23"/>
          <p:cNvSpPr txBox="1"/>
          <p:nvPr/>
        </p:nvSpPr>
        <p:spPr>
          <a:xfrm>
            <a:off x="83804" y="83804"/>
            <a:ext cx="861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3" name="Shape 133"/>
        <p:cNvGrpSpPr/>
        <p:nvPr/>
      </p:nvGrpSpPr>
      <p:grpSpPr>
        <a:xfrm>
          <a:off x="0" y="0"/>
          <a:ext cx="0" cy="0"/>
          <a:chOff x="0" y="0"/>
          <a:chExt cx="0" cy="0"/>
        </a:xfrm>
      </p:grpSpPr>
      <p:sp>
        <p:nvSpPr>
          <p:cNvPr id="134" name="Google Shape;134;p24"/>
          <p:cNvSpPr/>
          <p:nvPr/>
        </p:nvSpPr>
        <p:spPr>
          <a:xfrm>
            <a:off x="0" y="0"/>
            <a:ext cx="9144015" cy="82296"/>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24"/>
          <p:cNvSpPr/>
          <p:nvPr/>
        </p:nvSpPr>
        <p:spPr>
          <a:xfrm>
            <a:off x="445761" y="1266851"/>
            <a:ext cx="4389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370"/>
              </a:buClr>
              <a:buSzPts val="1300"/>
              <a:buFont typeface="Arial"/>
              <a:buNone/>
            </a:pPr>
            <a:r>
              <a:rPr b="0" i="0" lang="en" sz="1300" u="none" cap="none" strike="noStrike">
                <a:solidFill>
                  <a:srgbClr val="5C6370"/>
                </a:solidFill>
                <a:latin typeface="Arial"/>
                <a:ea typeface="Arial"/>
                <a:cs typeface="Arial"/>
                <a:sym typeface="Arial"/>
              </a:rPr>
              <a:t>How my classes connect the physical HVAC system, measurements, and compliance policies.</a:t>
            </a:r>
            <a:endParaRPr b="0" i="0" sz="1300" u="none" cap="none" strike="noStrike">
              <a:solidFill>
                <a:schemeClr val="dk1"/>
              </a:solidFill>
              <a:latin typeface="Arial"/>
              <a:ea typeface="Arial"/>
              <a:cs typeface="Arial"/>
              <a:sym typeface="Arial"/>
            </a:endParaRPr>
          </a:p>
        </p:txBody>
      </p:sp>
      <p:sp>
        <p:nvSpPr>
          <p:cNvPr id="136" name="Google Shape;136;p24"/>
          <p:cNvSpPr/>
          <p:nvPr/>
        </p:nvSpPr>
        <p:spPr>
          <a:xfrm>
            <a:off x="493789" y="2057400"/>
            <a:ext cx="1152175" cy="452628"/>
          </a:xfrm>
          <a:prstGeom prst="roundRect">
            <a:avLst>
              <a:gd fmla="val 12121" name="adj"/>
            </a:avLst>
          </a:prstGeom>
          <a:solidFill>
            <a:srgbClr val="E9F4FB"/>
          </a:solidFill>
          <a:ln cap="flat" cmpd="sng" w="15225">
            <a:solidFill>
              <a:srgbClr val="457B9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24"/>
          <p:cNvSpPr/>
          <p:nvPr/>
        </p:nvSpPr>
        <p:spPr>
          <a:xfrm>
            <a:off x="548655" y="2112264"/>
            <a:ext cx="1042444"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F2937"/>
              </a:buClr>
              <a:buSzPts val="1200"/>
              <a:buFont typeface="Arial"/>
              <a:buNone/>
            </a:pPr>
            <a:r>
              <a:rPr b="1" i="0" lang="en" sz="1200" u="none" cap="none" strike="noStrike">
                <a:solidFill>
                  <a:srgbClr val="1F2937"/>
                </a:solidFill>
                <a:latin typeface="Arial"/>
                <a:ea typeface="Arial"/>
                <a:cs typeface="Arial"/>
                <a:sym typeface="Arial"/>
              </a:rPr>
              <a:t>Building system</a:t>
            </a:r>
            <a:endParaRPr b="0" i="0" sz="1200" u="none" cap="none" strike="noStrike">
              <a:solidFill>
                <a:schemeClr val="dk1"/>
              </a:solidFill>
              <a:latin typeface="Arial"/>
              <a:ea typeface="Arial"/>
              <a:cs typeface="Arial"/>
              <a:sym typeface="Arial"/>
            </a:endParaRPr>
          </a:p>
        </p:txBody>
      </p:sp>
      <p:sp>
        <p:nvSpPr>
          <p:cNvPr id="138" name="Google Shape;138;p24"/>
          <p:cNvSpPr/>
          <p:nvPr/>
        </p:nvSpPr>
        <p:spPr>
          <a:xfrm>
            <a:off x="1748837" y="2167128"/>
            <a:ext cx="260611"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00"/>
              <a:buFont typeface="Arial"/>
              <a:buNone/>
            </a:pPr>
            <a:r>
              <a:rPr b="1" i="0" lang="en" sz="1700" u="none" cap="none" strike="noStrike">
                <a:solidFill>
                  <a:srgbClr val="5C637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139" name="Google Shape;139;p24"/>
          <p:cNvSpPr/>
          <p:nvPr/>
        </p:nvSpPr>
        <p:spPr>
          <a:xfrm>
            <a:off x="2057455" y="2057400"/>
            <a:ext cx="1234473" cy="452628"/>
          </a:xfrm>
          <a:prstGeom prst="roundRect">
            <a:avLst>
              <a:gd fmla="val 12121" name="adj"/>
            </a:avLst>
          </a:prstGeom>
          <a:solidFill>
            <a:srgbClr val="EDEBFA"/>
          </a:solidFill>
          <a:ln cap="flat" cmpd="sng" w="15225">
            <a:solidFill>
              <a:srgbClr val="6A5AC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24"/>
          <p:cNvSpPr/>
          <p:nvPr/>
        </p:nvSpPr>
        <p:spPr>
          <a:xfrm>
            <a:off x="2112320" y="2112264"/>
            <a:ext cx="1124742"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F2937"/>
              </a:buClr>
              <a:buSzPts val="1200"/>
              <a:buFont typeface="Arial"/>
              <a:buNone/>
            </a:pPr>
            <a:r>
              <a:rPr b="1" i="0" lang="en" sz="1200" u="none" cap="none" strike="noStrike">
                <a:solidFill>
                  <a:srgbClr val="1F2937"/>
                </a:solidFill>
                <a:latin typeface="Arial"/>
                <a:ea typeface="Arial"/>
                <a:cs typeface="Arial"/>
                <a:sym typeface="Arial"/>
              </a:rPr>
              <a:t>Measurements</a:t>
            </a:r>
            <a:endParaRPr b="0" i="0" sz="1200" u="none" cap="none" strike="noStrike">
              <a:solidFill>
                <a:schemeClr val="dk1"/>
              </a:solidFill>
              <a:latin typeface="Arial"/>
              <a:ea typeface="Arial"/>
              <a:cs typeface="Arial"/>
              <a:sym typeface="Arial"/>
            </a:endParaRPr>
          </a:p>
        </p:txBody>
      </p:sp>
      <p:sp>
        <p:nvSpPr>
          <p:cNvPr id="141" name="Google Shape;141;p24"/>
          <p:cNvSpPr/>
          <p:nvPr/>
        </p:nvSpPr>
        <p:spPr>
          <a:xfrm>
            <a:off x="3394800" y="2167128"/>
            <a:ext cx="260611"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00"/>
              <a:buFont typeface="Arial"/>
              <a:buNone/>
            </a:pPr>
            <a:r>
              <a:rPr b="1" i="0" lang="en" sz="1700" u="none" cap="none" strike="noStrike">
                <a:solidFill>
                  <a:srgbClr val="5C637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142" name="Google Shape;142;p24"/>
          <p:cNvSpPr/>
          <p:nvPr/>
        </p:nvSpPr>
        <p:spPr>
          <a:xfrm>
            <a:off x="3703419" y="2057400"/>
            <a:ext cx="1063018" cy="452628"/>
          </a:xfrm>
          <a:prstGeom prst="roundRect">
            <a:avLst>
              <a:gd fmla="val 12121" name="adj"/>
            </a:avLst>
          </a:prstGeom>
          <a:solidFill>
            <a:srgbClr val="FFF6D8"/>
          </a:solidFill>
          <a:ln cap="flat" cmpd="sng" w="15225">
            <a:solidFill>
              <a:srgbClr val="BFA43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24"/>
          <p:cNvSpPr/>
          <p:nvPr/>
        </p:nvSpPr>
        <p:spPr>
          <a:xfrm>
            <a:off x="3758284" y="2112264"/>
            <a:ext cx="953287"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F2937"/>
              </a:buClr>
              <a:buSzPts val="1200"/>
              <a:buFont typeface="Arial"/>
              <a:buNone/>
            </a:pPr>
            <a:r>
              <a:rPr b="1" i="0" lang="en" sz="1200" u="none" cap="none" strike="noStrike">
                <a:solidFill>
                  <a:srgbClr val="1F2937"/>
                </a:solidFill>
                <a:latin typeface="Arial"/>
                <a:ea typeface="Arial"/>
                <a:cs typeface="Arial"/>
                <a:sym typeface="Arial"/>
              </a:rPr>
              <a:t>Context</a:t>
            </a:r>
            <a:endParaRPr b="0" i="0" sz="1200" u="none" cap="none" strike="noStrike">
              <a:solidFill>
                <a:schemeClr val="dk1"/>
              </a:solidFill>
              <a:latin typeface="Arial"/>
              <a:ea typeface="Arial"/>
              <a:cs typeface="Arial"/>
              <a:sym typeface="Arial"/>
            </a:endParaRPr>
          </a:p>
        </p:txBody>
      </p:sp>
      <p:sp>
        <p:nvSpPr>
          <p:cNvPr id="144" name="Google Shape;144;p24"/>
          <p:cNvSpPr/>
          <p:nvPr/>
        </p:nvSpPr>
        <p:spPr>
          <a:xfrm>
            <a:off x="4869310" y="2167128"/>
            <a:ext cx="260611" cy="1920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00"/>
              <a:buFont typeface="Arial"/>
              <a:buNone/>
            </a:pPr>
            <a:r>
              <a:rPr b="1" i="0" lang="en" sz="1700" u="none" cap="none" strike="noStrike">
                <a:solidFill>
                  <a:srgbClr val="5C6370"/>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p:txBody>
      </p:sp>
      <p:sp>
        <p:nvSpPr>
          <p:cNvPr id="145" name="Google Shape;145;p24"/>
          <p:cNvSpPr/>
          <p:nvPr/>
        </p:nvSpPr>
        <p:spPr>
          <a:xfrm>
            <a:off x="5177928" y="2057400"/>
            <a:ext cx="1179607" cy="452628"/>
          </a:xfrm>
          <a:prstGeom prst="roundRect">
            <a:avLst>
              <a:gd fmla="val 12121" name="adj"/>
            </a:avLst>
          </a:prstGeom>
          <a:solidFill>
            <a:srgbClr val="F8E8E8"/>
          </a:solidFill>
          <a:ln cap="flat" cmpd="sng" w="15225">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6" name="Google Shape;146;p24"/>
          <p:cNvSpPr/>
          <p:nvPr/>
        </p:nvSpPr>
        <p:spPr>
          <a:xfrm>
            <a:off x="5232793" y="2112264"/>
            <a:ext cx="1069877" cy="342900"/>
          </a:xfrm>
          <a:prstGeom prst="rect">
            <a:avLst/>
          </a:prstGeom>
          <a:noFill/>
          <a:ln>
            <a:noFill/>
          </a:ln>
        </p:spPr>
        <p:txBody>
          <a:bodyPr anchorCtr="0" anchor="ctr" bIns="200" lIns="200" spcFirstLastPara="1" rIns="200" wrap="square" tIns="200">
            <a:noAutofit/>
          </a:bodyPr>
          <a:lstStyle/>
          <a:p>
            <a:pPr indent="0" lvl="0" marL="0" marR="0" rtl="0" algn="ctr">
              <a:spcBef>
                <a:spcPts val="0"/>
              </a:spcBef>
              <a:spcAft>
                <a:spcPts val="0"/>
              </a:spcAft>
              <a:buClr>
                <a:srgbClr val="1F2937"/>
              </a:buClr>
              <a:buSzPts val="1200"/>
              <a:buFont typeface="Arial"/>
              <a:buNone/>
            </a:pPr>
            <a:r>
              <a:rPr b="1" i="0" lang="en" sz="1200" u="none" cap="none" strike="noStrike">
                <a:solidFill>
                  <a:srgbClr val="1F2937"/>
                </a:solidFill>
                <a:latin typeface="Arial"/>
                <a:ea typeface="Arial"/>
                <a:cs typeface="Arial"/>
                <a:sym typeface="Arial"/>
              </a:rPr>
              <a:t>Assessment</a:t>
            </a:r>
            <a:endParaRPr b="0" i="0" sz="1200" u="none" cap="none" strike="noStrike">
              <a:solidFill>
                <a:schemeClr val="dk1"/>
              </a:solidFill>
              <a:latin typeface="Arial"/>
              <a:ea typeface="Arial"/>
              <a:cs typeface="Arial"/>
              <a:sym typeface="Arial"/>
            </a:endParaRPr>
          </a:p>
        </p:txBody>
      </p:sp>
      <p:sp>
        <p:nvSpPr>
          <p:cNvPr id="147" name="Google Shape;147;p24"/>
          <p:cNvSpPr/>
          <p:nvPr/>
        </p:nvSpPr>
        <p:spPr>
          <a:xfrm>
            <a:off x="507500" y="3257550"/>
            <a:ext cx="5142600" cy="585600"/>
          </a:xfrm>
          <a:prstGeom prst="roundRect">
            <a:avLst>
              <a:gd fmla="val 14545" name="adj"/>
            </a:avLst>
          </a:prstGeom>
          <a:solidFill>
            <a:srgbClr val="F8FAFC"/>
          </a:solidFill>
          <a:ln cap="flat" cmpd="sng" w="15250">
            <a:solidFill>
              <a:srgbClr val="DDE3EA"/>
            </a:solidFill>
            <a:prstDash val="solid"/>
            <a:round/>
            <a:headEnd len="sm" w="sm" type="none"/>
            <a:tailEnd len="sm" w="sm" type="none"/>
          </a:ln>
        </p:spPr>
        <p:txBody>
          <a:bodyPr anchorCtr="0" anchor="ctr" bIns="82275" lIns="82275" spcFirstLastPara="1" rIns="82275" wrap="square" tIns="82275">
            <a:noAutofit/>
          </a:bodyPr>
          <a:lstStyle/>
          <a:p>
            <a:pPr indent="0" lvl="0" marL="0" rtl="0" algn="l">
              <a:spcBef>
                <a:spcPts val="0"/>
              </a:spcBef>
              <a:spcAft>
                <a:spcPts val="0"/>
              </a:spcAft>
              <a:buNone/>
            </a:pPr>
            <a:r>
              <a:t/>
            </a:r>
            <a:endParaRPr/>
          </a:p>
        </p:txBody>
      </p:sp>
      <p:sp>
        <p:nvSpPr>
          <p:cNvPr id="148" name="Google Shape;148;p24"/>
          <p:cNvSpPr/>
          <p:nvPr/>
        </p:nvSpPr>
        <p:spPr>
          <a:xfrm>
            <a:off x="680289" y="3406522"/>
            <a:ext cx="4772100" cy="2979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Arial"/>
              <a:buNone/>
            </a:pPr>
            <a:r>
              <a:rPr b="1" i="0" lang="en" sz="1420" u="none" cap="none" strike="noStrike">
                <a:solidFill>
                  <a:srgbClr val="C85C5C"/>
                </a:solidFill>
              </a:rPr>
              <a:t>Core story</a:t>
            </a:r>
            <a:r>
              <a:rPr b="0" i="0" lang="en" sz="1420" u="none" cap="none" strike="noStrike">
                <a:solidFill>
                  <a:srgbClr val="C85C5C"/>
                </a:solidFill>
                <a:latin typeface="Arial"/>
                <a:ea typeface="Arial"/>
                <a:cs typeface="Arial"/>
                <a:sym typeface="Arial"/>
              </a:rPr>
              <a:t>: </a:t>
            </a:r>
            <a:r>
              <a:rPr b="0" i="0" lang="en" sz="1420" u="none" cap="none" strike="noStrike">
                <a:solidFill>
                  <a:srgbClr val="1F2937"/>
                </a:solidFill>
                <a:latin typeface="Arial"/>
                <a:ea typeface="Arial"/>
                <a:cs typeface="Arial"/>
                <a:sym typeface="Arial"/>
              </a:rPr>
              <a:t>actual building data is compared with required policy thresholds.</a:t>
            </a:r>
            <a:endParaRPr b="0" i="0" sz="1420" u="none" cap="none" strike="noStrike">
              <a:solidFill>
                <a:schemeClr val="dk1"/>
              </a:solidFill>
              <a:latin typeface="Arial"/>
              <a:ea typeface="Arial"/>
              <a:cs typeface="Arial"/>
              <a:sym typeface="Arial"/>
            </a:endParaRPr>
          </a:p>
        </p:txBody>
      </p:sp>
      <p:pic>
        <p:nvPicPr>
          <p:cNvPr descr="/mnt/data/user-OTjuqXMhFE11WJH80Np5vvK3/fa635f297173420aaa4f771870c7d1bb/mnt/data/right.png" id="149" name="Google Shape;149;p24"/>
          <p:cNvPicPr preferRelativeResize="0"/>
          <p:nvPr/>
        </p:nvPicPr>
        <p:blipFill rotWithShape="1">
          <a:blip r:embed="rId3">
            <a:alphaModFix/>
          </a:blip>
          <a:srcRect b="0" l="0" r="0" t="0"/>
          <a:stretch/>
        </p:blipFill>
        <p:spPr>
          <a:xfrm>
            <a:off x="6618146" y="1266859"/>
            <a:ext cx="2091690" cy="2129721"/>
          </a:xfrm>
          <a:prstGeom prst="rect">
            <a:avLst/>
          </a:prstGeom>
          <a:noFill/>
          <a:ln>
            <a:noFill/>
          </a:ln>
        </p:spPr>
      </p:pic>
      <p:sp>
        <p:nvSpPr>
          <p:cNvPr id="150" name="Google Shape;150;p24"/>
          <p:cNvSpPr/>
          <p:nvPr/>
        </p:nvSpPr>
        <p:spPr>
          <a:xfrm>
            <a:off x="6618146" y="651510"/>
            <a:ext cx="2091746" cy="3360420"/>
          </a:xfrm>
          <a:prstGeom prst="rect">
            <a:avLst/>
          </a:prstGeom>
          <a:solidFill>
            <a:srgbClr val="FFFFFF">
              <a:alpha val="0"/>
            </a:srgbClr>
          </a:solidFill>
          <a:ln cap="flat" cmpd="sng" w="12700">
            <a:solidFill>
              <a:srgbClr val="D2D7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24"/>
          <p:cNvSpPr/>
          <p:nvPr/>
        </p:nvSpPr>
        <p:spPr>
          <a:xfrm>
            <a:off x="411491" y="4834890"/>
            <a:ext cx="2880437"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7"/>
              </a:buClr>
              <a:buSzPts val="600"/>
              <a:buFont typeface="Arial"/>
              <a:buNone/>
            </a:pPr>
            <a:r>
              <a:rPr b="0" i="0" lang="en" sz="600" u="none" cap="none" strike="noStrike">
                <a:solidFill>
                  <a:srgbClr val="7A7F87"/>
                </a:solidFill>
                <a:latin typeface="Arial"/>
                <a:ea typeface="Arial"/>
                <a:cs typeface="Arial"/>
                <a:sym typeface="Arial"/>
              </a:rPr>
              <a:t>HVCC Conceptual Model · Red Part · 1</a:t>
            </a:r>
            <a:endParaRPr b="0" i="0" sz="600" u="none" cap="none" strike="noStrike">
              <a:solidFill>
                <a:schemeClr val="dk1"/>
              </a:solidFill>
              <a:latin typeface="Arial"/>
              <a:ea typeface="Arial"/>
              <a:cs typeface="Arial"/>
              <a:sym typeface="Arial"/>
            </a:endParaRPr>
          </a:p>
        </p:txBody>
      </p:sp>
      <p:sp>
        <p:nvSpPr>
          <p:cNvPr id="152" name="Google Shape;152;p24"/>
          <p:cNvSpPr/>
          <p:nvPr/>
        </p:nvSpPr>
        <p:spPr>
          <a:xfrm>
            <a:off x="411500" y="493825"/>
            <a:ext cx="5370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3557"/>
              </a:buClr>
              <a:buSzPts val="2000"/>
              <a:buFont typeface="Play"/>
              <a:buNone/>
            </a:pPr>
            <a:r>
              <a:rPr b="1" lang="en" sz="2700">
                <a:solidFill>
                  <a:srgbClr val="1D3557"/>
                </a:solidFill>
                <a:latin typeface="Play"/>
                <a:ea typeface="Play"/>
                <a:cs typeface="Play"/>
                <a:sym typeface="Play"/>
              </a:rPr>
              <a:t>Red Part: HVAC Compliance Assessment Flow</a:t>
            </a:r>
            <a:endParaRPr b="0" i="0" sz="27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25"/>
          <p:cNvSpPr/>
          <p:nvPr/>
        </p:nvSpPr>
        <p:spPr>
          <a:xfrm>
            <a:off x="0" y="0"/>
            <a:ext cx="9144015" cy="82296"/>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25"/>
          <p:cNvSpPr/>
          <p:nvPr/>
        </p:nvSpPr>
        <p:spPr>
          <a:xfrm>
            <a:off x="411491" y="240030"/>
            <a:ext cx="768116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3557"/>
              </a:buClr>
              <a:buSzPts val="2000"/>
              <a:buFont typeface="Play"/>
              <a:buNone/>
            </a:pPr>
            <a:r>
              <a:rPr b="1" i="0" lang="en" sz="2000" u="none" cap="none" strike="noStrike">
                <a:solidFill>
                  <a:srgbClr val="1D3557"/>
                </a:solidFill>
                <a:latin typeface="Play"/>
                <a:ea typeface="Play"/>
                <a:cs typeface="Play"/>
                <a:sym typeface="Play"/>
              </a:rPr>
              <a:t>1) Physical layer: system and components</a:t>
            </a:r>
            <a:endParaRPr b="0" i="0" sz="2000" u="none" cap="none" strike="noStrike">
              <a:solidFill>
                <a:schemeClr val="dk1"/>
              </a:solidFill>
              <a:latin typeface="Arial"/>
              <a:ea typeface="Arial"/>
              <a:cs typeface="Arial"/>
              <a:sym typeface="Arial"/>
            </a:endParaRPr>
          </a:p>
        </p:txBody>
      </p:sp>
      <p:sp>
        <p:nvSpPr>
          <p:cNvPr id="160" name="Google Shape;160;p25"/>
          <p:cNvSpPr/>
          <p:nvPr/>
        </p:nvSpPr>
        <p:spPr>
          <a:xfrm>
            <a:off x="425207" y="630936"/>
            <a:ext cx="6721019"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370"/>
              </a:buClr>
              <a:buSzPts val="1000"/>
              <a:buFont typeface="Arial"/>
              <a:buNone/>
            </a:pPr>
            <a:r>
              <a:rPr b="0" i="0" lang="en" sz="1300" u="none" cap="none" strike="noStrike">
                <a:solidFill>
                  <a:srgbClr val="5C6370"/>
                </a:solidFill>
                <a:latin typeface="Arial"/>
                <a:ea typeface="Arial"/>
                <a:cs typeface="Arial"/>
                <a:sym typeface="Arial"/>
              </a:rPr>
              <a:t>These classes describe where the data comes from in the building.</a:t>
            </a:r>
            <a:endParaRPr b="0" i="0" sz="1300" u="none" cap="none" strike="noStrike">
              <a:solidFill>
                <a:schemeClr val="dk1"/>
              </a:solidFill>
              <a:latin typeface="Arial"/>
              <a:ea typeface="Arial"/>
              <a:cs typeface="Arial"/>
              <a:sym typeface="Arial"/>
            </a:endParaRPr>
          </a:p>
        </p:txBody>
      </p:sp>
      <p:sp>
        <p:nvSpPr>
          <p:cNvPr id="161" name="Google Shape;161;p25"/>
          <p:cNvSpPr/>
          <p:nvPr/>
        </p:nvSpPr>
        <p:spPr>
          <a:xfrm>
            <a:off x="483688" y="1474457"/>
            <a:ext cx="2390700" cy="788700"/>
          </a:xfrm>
          <a:prstGeom prst="roundRect">
            <a:avLst>
              <a:gd fmla="val 8421" name="adj"/>
            </a:avLst>
          </a:prstGeom>
          <a:solidFill>
            <a:srgbClr val="F8E8E8"/>
          </a:solidFill>
          <a:ln cap="flat" cmpd="sng" w="18425">
            <a:solidFill>
              <a:srgbClr val="C85C5C"/>
            </a:solidFill>
            <a:prstDash val="solid"/>
            <a:round/>
            <a:headEnd len="sm" w="sm" type="none"/>
            <a:tailEnd len="sm" w="sm" type="none"/>
          </a:ln>
        </p:spPr>
        <p:txBody>
          <a:bodyPr anchorCtr="0" anchor="ctr" bIns="83000" lIns="83000" spcFirstLastPara="1" rIns="83000" wrap="square" tIns="83000">
            <a:noAutofit/>
          </a:bodyPr>
          <a:lstStyle/>
          <a:p>
            <a:pPr indent="0" lvl="0" marL="0" rtl="0" algn="l">
              <a:spcBef>
                <a:spcPts val="0"/>
              </a:spcBef>
              <a:spcAft>
                <a:spcPts val="0"/>
              </a:spcAft>
              <a:buNone/>
            </a:pPr>
            <a:r>
              <a:t/>
            </a:r>
            <a:endParaRPr/>
          </a:p>
        </p:txBody>
      </p:sp>
      <p:sp>
        <p:nvSpPr>
          <p:cNvPr id="162" name="Google Shape;162;p25"/>
          <p:cNvSpPr/>
          <p:nvPr/>
        </p:nvSpPr>
        <p:spPr>
          <a:xfrm>
            <a:off x="522003" y="1517551"/>
            <a:ext cx="2324400" cy="6558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BuildingServiceSystem</a:t>
            </a:r>
            <a:endParaRPr b="0" i="0" sz="1452"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(e.g., HVAC system)</a:t>
            </a:r>
            <a:endParaRPr b="0" i="0" sz="1452" u="none" cap="none" strike="noStrike">
              <a:solidFill>
                <a:schemeClr val="dk1"/>
              </a:solidFill>
              <a:latin typeface="Arial"/>
              <a:ea typeface="Arial"/>
              <a:cs typeface="Arial"/>
              <a:sym typeface="Arial"/>
            </a:endParaRPr>
          </a:p>
        </p:txBody>
      </p:sp>
      <p:sp>
        <p:nvSpPr>
          <p:cNvPr id="163" name="Google Shape;163;p25"/>
          <p:cNvSpPr/>
          <p:nvPr/>
        </p:nvSpPr>
        <p:spPr>
          <a:xfrm>
            <a:off x="2902551" y="1731779"/>
            <a:ext cx="3156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2058"/>
              <a:buFont typeface="Arial"/>
              <a:buNone/>
            </a:pPr>
            <a:r>
              <a:rPr b="1" i="0" lang="en" sz="2058" u="none" cap="none" strike="noStrike">
                <a:solidFill>
                  <a:srgbClr val="5C6370"/>
                </a:solidFill>
                <a:latin typeface="Arial"/>
                <a:ea typeface="Arial"/>
                <a:cs typeface="Arial"/>
                <a:sym typeface="Arial"/>
              </a:rPr>
              <a:t>→</a:t>
            </a:r>
            <a:endParaRPr b="0" i="0" sz="2058" u="none" cap="none" strike="noStrike">
              <a:solidFill>
                <a:schemeClr val="dk1"/>
              </a:solidFill>
              <a:latin typeface="Arial"/>
              <a:ea typeface="Arial"/>
              <a:cs typeface="Arial"/>
              <a:sym typeface="Arial"/>
            </a:endParaRPr>
          </a:p>
        </p:txBody>
      </p:sp>
      <p:sp>
        <p:nvSpPr>
          <p:cNvPr id="164" name="Google Shape;164;p25"/>
          <p:cNvSpPr/>
          <p:nvPr/>
        </p:nvSpPr>
        <p:spPr>
          <a:xfrm>
            <a:off x="3264596" y="1474457"/>
            <a:ext cx="2739300" cy="788700"/>
          </a:xfrm>
          <a:prstGeom prst="roundRect">
            <a:avLst>
              <a:gd fmla="val 8421" name="adj"/>
            </a:avLst>
          </a:prstGeom>
          <a:solidFill>
            <a:srgbClr val="F8E8E8"/>
          </a:solidFill>
          <a:ln cap="flat" cmpd="sng" w="18425">
            <a:solidFill>
              <a:srgbClr val="C85C5C"/>
            </a:solidFill>
            <a:prstDash val="solid"/>
            <a:round/>
            <a:headEnd len="sm" w="sm" type="none"/>
            <a:tailEnd len="sm" w="sm" type="none"/>
          </a:ln>
        </p:spPr>
        <p:txBody>
          <a:bodyPr anchorCtr="0" anchor="ctr" bIns="83000" lIns="83000" spcFirstLastPara="1" rIns="83000" wrap="square" tIns="83000">
            <a:noAutofit/>
          </a:bodyPr>
          <a:lstStyle/>
          <a:p>
            <a:pPr indent="0" lvl="0" marL="0" rtl="0" algn="l">
              <a:spcBef>
                <a:spcPts val="0"/>
              </a:spcBef>
              <a:spcAft>
                <a:spcPts val="0"/>
              </a:spcAft>
              <a:buNone/>
            </a:pPr>
            <a:r>
              <a:t/>
            </a:r>
            <a:endParaRPr sz="1695"/>
          </a:p>
        </p:txBody>
      </p:sp>
      <p:sp>
        <p:nvSpPr>
          <p:cNvPr id="165" name="Google Shape;165;p25"/>
          <p:cNvSpPr/>
          <p:nvPr/>
        </p:nvSpPr>
        <p:spPr>
          <a:xfrm>
            <a:off x="3363585" y="1543310"/>
            <a:ext cx="2573400" cy="6558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BuildingServiceComponent</a:t>
            </a:r>
            <a:endParaRPr b="0" i="0" sz="1452"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(e.g., VAV box, fan, duct)</a:t>
            </a:r>
            <a:endParaRPr b="0" i="0" sz="1452" u="none" cap="none" strike="noStrike">
              <a:solidFill>
                <a:schemeClr val="dk1"/>
              </a:solidFill>
              <a:latin typeface="Arial"/>
              <a:ea typeface="Arial"/>
              <a:cs typeface="Arial"/>
              <a:sym typeface="Arial"/>
            </a:endParaRPr>
          </a:p>
        </p:txBody>
      </p:sp>
      <p:sp>
        <p:nvSpPr>
          <p:cNvPr id="166" name="Google Shape;166;p25"/>
          <p:cNvSpPr/>
          <p:nvPr/>
        </p:nvSpPr>
        <p:spPr>
          <a:xfrm>
            <a:off x="6046150" y="1731779"/>
            <a:ext cx="315600" cy="23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2058"/>
              <a:buFont typeface="Arial"/>
              <a:buNone/>
            </a:pPr>
            <a:r>
              <a:rPr b="1" i="0" lang="en" sz="2058" u="none" cap="none" strike="noStrike">
                <a:solidFill>
                  <a:srgbClr val="5C6370"/>
                </a:solidFill>
                <a:latin typeface="Arial"/>
                <a:ea typeface="Arial"/>
                <a:cs typeface="Arial"/>
                <a:sym typeface="Arial"/>
              </a:rPr>
              <a:t>→</a:t>
            </a:r>
            <a:endParaRPr b="0" i="0" sz="2058" u="none" cap="none" strike="noStrike">
              <a:solidFill>
                <a:schemeClr val="dk1"/>
              </a:solidFill>
              <a:latin typeface="Arial"/>
              <a:ea typeface="Arial"/>
              <a:cs typeface="Arial"/>
              <a:sym typeface="Arial"/>
            </a:endParaRPr>
          </a:p>
        </p:txBody>
      </p:sp>
      <p:sp>
        <p:nvSpPr>
          <p:cNvPr id="167" name="Google Shape;167;p25"/>
          <p:cNvSpPr/>
          <p:nvPr/>
        </p:nvSpPr>
        <p:spPr>
          <a:xfrm>
            <a:off x="6419049" y="1474451"/>
            <a:ext cx="2241300" cy="788700"/>
          </a:xfrm>
          <a:prstGeom prst="roundRect">
            <a:avLst>
              <a:gd fmla="val 8421" name="adj"/>
            </a:avLst>
          </a:prstGeom>
          <a:solidFill>
            <a:srgbClr val="EDEBFA"/>
          </a:solidFill>
          <a:ln cap="flat" cmpd="sng" w="18425">
            <a:solidFill>
              <a:srgbClr val="6A5ACD"/>
            </a:solidFill>
            <a:prstDash val="solid"/>
            <a:round/>
            <a:headEnd len="sm" w="sm" type="none"/>
            <a:tailEnd len="sm" w="sm" type="none"/>
          </a:ln>
        </p:spPr>
        <p:txBody>
          <a:bodyPr anchorCtr="0" anchor="ctr" bIns="83000" lIns="83000" spcFirstLastPara="1" rIns="83000" wrap="square" tIns="83000">
            <a:noAutofit/>
          </a:bodyPr>
          <a:lstStyle/>
          <a:p>
            <a:pPr indent="0" lvl="0" marL="0" rtl="0" algn="l">
              <a:spcBef>
                <a:spcPts val="0"/>
              </a:spcBef>
              <a:spcAft>
                <a:spcPts val="0"/>
              </a:spcAft>
              <a:buNone/>
            </a:pPr>
            <a:r>
              <a:t/>
            </a:r>
            <a:endParaRPr/>
          </a:p>
        </p:txBody>
      </p:sp>
      <p:sp>
        <p:nvSpPr>
          <p:cNvPr id="168" name="Google Shape;168;p25"/>
          <p:cNvSpPr/>
          <p:nvPr/>
        </p:nvSpPr>
        <p:spPr>
          <a:xfrm>
            <a:off x="6485458" y="1540858"/>
            <a:ext cx="2108700" cy="6558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Measurement</a:t>
            </a:r>
            <a:endParaRPr b="0" i="0" sz="1452"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452"/>
              <a:buFont typeface="Arial"/>
              <a:buNone/>
            </a:pPr>
            <a:r>
              <a:rPr b="1" i="0" lang="en" sz="1452" u="none" cap="none" strike="noStrike">
                <a:solidFill>
                  <a:srgbClr val="1F2937"/>
                </a:solidFill>
                <a:latin typeface="Arial"/>
                <a:ea typeface="Arial"/>
                <a:cs typeface="Arial"/>
                <a:sym typeface="Arial"/>
              </a:rPr>
              <a:t>(actual building data)</a:t>
            </a:r>
            <a:endParaRPr b="0" i="0" sz="1452" u="none" cap="none" strike="noStrike">
              <a:solidFill>
                <a:schemeClr val="dk1"/>
              </a:solidFill>
              <a:latin typeface="Arial"/>
              <a:ea typeface="Arial"/>
              <a:cs typeface="Arial"/>
              <a:sym typeface="Arial"/>
            </a:endParaRPr>
          </a:p>
        </p:txBody>
      </p:sp>
      <p:sp>
        <p:nvSpPr>
          <p:cNvPr id="169" name="Google Shape;169;p25"/>
          <p:cNvSpPr/>
          <p:nvPr/>
        </p:nvSpPr>
        <p:spPr>
          <a:xfrm>
            <a:off x="516123" y="2887978"/>
            <a:ext cx="3464700" cy="937500"/>
          </a:xfrm>
          <a:prstGeom prst="roundRect">
            <a:avLst>
              <a:gd fmla="val 6957" name="adj"/>
            </a:avLst>
          </a:prstGeom>
          <a:solidFill>
            <a:srgbClr val="F8FAFC"/>
          </a:solidFill>
          <a:ln cap="flat" cmpd="sng" w="15100">
            <a:solidFill>
              <a:srgbClr val="DDE3EA"/>
            </a:solidFill>
            <a:prstDash val="solid"/>
            <a:round/>
            <a:headEnd len="sm" w="sm" type="none"/>
            <a:tailEnd len="sm" w="sm" type="none"/>
          </a:ln>
        </p:spPr>
        <p:txBody>
          <a:bodyPr anchorCtr="0" anchor="ctr" bIns="81525" lIns="81525" spcFirstLastPara="1" rIns="81525" wrap="square" tIns="81525">
            <a:noAutofit/>
          </a:bodyPr>
          <a:lstStyle/>
          <a:p>
            <a:pPr indent="0" lvl="0" marL="0" rtl="0" algn="l">
              <a:spcBef>
                <a:spcPts val="0"/>
              </a:spcBef>
              <a:spcAft>
                <a:spcPts val="0"/>
              </a:spcAft>
              <a:buNone/>
            </a:pPr>
            <a:r>
              <a:t/>
            </a:r>
            <a:endParaRPr/>
          </a:p>
        </p:txBody>
      </p:sp>
      <p:sp>
        <p:nvSpPr>
          <p:cNvPr id="170" name="Google Shape;170;p25"/>
          <p:cNvSpPr/>
          <p:nvPr/>
        </p:nvSpPr>
        <p:spPr>
          <a:xfrm>
            <a:off x="655287" y="2949816"/>
            <a:ext cx="2527200" cy="2445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1664"/>
              <a:buFont typeface="Arial"/>
              <a:buNone/>
            </a:pPr>
            <a:r>
              <a:rPr b="1" i="0" lang="en" sz="1664" u="none" cap="none" strike="noStrike">
                <a:solidFill>
                  <a:srgbClr val="C85C5C"/>
                </a:solidFill>
                <a:latin typeface="Arial"/>
                <a:ea typeface="Arial"/>
                <a:cs typeface="Arial"/>
                <a:sym typeface="Arial"/>
              </a:rPr>
              <a:t>Key relationship</a:t>
            </a:r>
            <a:endParaRPr b="0" i="0" sz="1664" u="none" cap="none" strike="noStrike">
              <a:solidFill>
                <a:schemeClr val="dk1"/>
              </a:solidFill>
              <a:latin typeface="Arial"/>
              <a:ea typeface="Arial"/>
              <a:cs typeface="Arial"/>
              <a:sym typeface="Arial"/>
            </a:endParaRPr>
          </a:p>
        </p:txBody>
      </p:sp>
      <p:sp>
        <p:nvSpPr>
          <p:cNvPr id="171" name="Google Shape;171;p25"/>
          <p:cNvSpPr/>
          <p:nvPr/>
        </p:nvSpPr>
        <p:spPr>
          <a:xfrm>
            <a:off x="662884" y="3196794"/>
            <a:ext cx="3236700" cy="5487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8"/>
              <a:buFont typeface="Arial"/>
              <a:buNone/>
            </a:pPr>
            <a:r>
              <a:rPr b="0" i="0" lang="en" sz="1308" u="none" cap="none" strike="noStrike">
                <a:solidFill>
                  <a:srgbClr val="1F2937"/>
                </a:solidFill>
                <a:latin typeface="Arial"/>
                <a:ea typeface="Arial"/>
                <a:cs typeface="Arial"/>
                <a:sym typeface="Arial"/>
              </a:rPr>
              <a:t>A system has service components. Components affect the measurements we use later.</a:t>
            </a:r>
            <a:endParaRPr b="0" i="0" sz="1308" u="none" cap="none" strike="noStrike">
              <a:solidFill>
                <a:schemeClr val="dk1"/>
              </a:solidFill>
              <a:latin typeface="Arial"/>
              <a:ea typeface="Arial"/>
              <a:cs typeface="Arial"/>
              <a:sym typeface="Arial"/>
            </a:endParaRPr>
          </a:p>
        </p:txBody>
      </p:sp>
      <p:sp>
        <p:nvSpPr>
          <p:cNvPr id="172" name="Google Shape;172;p25"/>
          <p:cNvSpPr/>
          <p:nvPr/>
        </p:nvSpPr>
        <p:spPr>
          <a:xfrm>
            <a:off x="4884644" y="2887975"/>
            <a:ext cx="3709500" cy="937500"/>
          </a:xfrm>
          <a:prstGeom prst="roundRect">
            <a:avLst>
              <a:gd fmla="val 6957" name="adj"/>
            </a:avLst>
          </a:prstGeom>
          <a:solidFill>
            <a:srgbClr val="F8FAFC"/>
          </a:solidFill>
          <a:ln cap="flat" cmpd="sng" w="15100">
            <a:solidFill>
              <a:srgbClr val="DDE3EA"/>
            </a:solidFill>
            <a:prstDash val="solid"/>
            <a:round/>
            <a:headEnd len="sm" w="sm" type="none"/>
            <a:tailEnd len="sm" w="sm" type="none"/>
          </a:ln>
        </p:spPr>
        <p:txBody>
          <a:bodyPr anchorCtr="0" anchor="ctr" bIns="81525" lIns="81525" spcFirstLastPara="1" rIns="81525" wrap="square" tIns="81525">
            <a:noAutofit/>
          </a:bodyPr>
          <a:lstStyle/>
          <a:p>
            <a:pPr indent="0" lvl="0" marL="0" rtl="0" algn="l">
              <a:spcBef>
                <a:spcPts val="0"/>
              </a:spcBef>
              <a:spcAft>
                <a:spcPts val="0"/>
              </a:spcAft>
              <a:buNone/>
            </a:pPr>
            <a:r>
              <a:t/>
            </a:r>
            <a:endParaRPr sz="1664"/>
          </a:p>
        </p:txBody>
      </p:sp>
      <p:sp>
        <p:nvSpPr>
          <p:cNvPr id="173" name="Google Shape;173;p25"/>
          <p:cNvSpPr/>
          <p:nvPr/>
        </p:nvSpPr>
        <p:spPr>
          <a:xfrm>
            <a:off x="5112909" y="3034712"/>
            <a:ext cx="978300" cy="2445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457B9D"/>
              </a:buClr>
              <a:buSzPts val="1664"/>
              <a:buFont typeface="Arial"/>
              <a:buNone/>
            </a:pPr>
            <a:r>
              <a:rPr b="1" i="0" lang="en" sz="1664" u="none" cap="none" strike="noStrike">
                <a:solidFill>
                  <a:srgbClr val="457B9D"/>
                </a:solidFill>
                <a:latin typeface="Arial"/>
                <a:ea typeface="Arial"/>
                <a:cs typeface="Arial"/>
                <a:sym typeface="Arial"/>
              </a:rPr>
              <a:t>Example</a:t>
            </a:r>
            <a:endParaRPr b="0" i="0" sz="1664" u="none" cap="none" strike="noStrike">
              <a:solidFill>
                <a:schemeClr val="dk1"/>
              </a:solidFill>
              <a:latin typeface="Arial"/>
              <a:ea typeface="Arial"/>
              <a:cs typeface="Arial"/>
              <a:sym typeface="Arial"/>
            </a:endParaRPr>
          </a:p>
        </p:txBody>
      </p:sp>
      <p:sp>
        <p:nvSpPr>
          <p:cNvPr id="174" name="Google Shape;174;p25"/>
          <p:cNvSpPr/>
          <p:nvPr/>
        </p:nvSpPr>
        <p:spPr>
          <a:xfrm>
            <a:off x="5112909" y="3344492"/>
            <a:ext cx="3097800" cy="3261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308"/>
              <a:buFont typeface="Arial"/>
              <a:buNone/>
            </a:pPr>
            <a:r>
              <a:rPr b="0" i="0" lang="en" sz="1308" u="none" cap="none" strike="noStrike">
                <a:solidFill>
                  <a:srgbClr val="1F2937"/>
                </a:solidFill>
                <a:latin typeface="Arial"/>
                <a:ea typeface="Arial"/>
                <a:cs typeface="Arial"/>
                <a:sym typeface="Arial"/>
              </a:rPr>
              <a:t>HVAC System A → VAV Box 1 → influences airflow / ACH measurement.</a:t>
            </a:r>
            <a:endParaRPr b="0" i="0" sz="1308" u="none" cap="none" strike="noStrike">
              <a:solidFill>
                <a:schemeClr val="dk1"/>
              </a:solidFill>
              <a:latin typeface="Arial"/>
              <a:ea typeface="Arial"/>
              <a:cs typeface="Arial"/>
              <a:sym typeface="Arial"/>
            </a:endParaRPr>
          </a:p>
        </p:txBody>
      </p:sp>
      <p:sp>
        <p:nvSpPr>
          <p:cNvPr id="175" name="Google Shape;175;p25"/>
          <p:cNvSpPr/>
          <p:nvPr/>
        </p:nvSpPr>
        <p:spPr>
          <a:xfrm>
            <a:off x="411491" y="4834890"/>
            <a:ext cx="2880437"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7"/>
              </a:buClr>
              <a:buSzPts val="600"/>
              <a:buFont typeface="Arial"/>
              <a:buNone/>
            </a:pPr>
            <a:r>
              <a:rPr b="0" i="0" lang="en" sz="600" u="none" cap="none" strike="noStrike">
                <a:solidFill>
                  <a:srgbClr val="7A7F87"/>
                </a:solidFill>
                <a:latin typeface="Arial"/>
                <a:ea typeface="Arial"/>
                <a:cs typeface="Arial"/>
                <a:sym typeface="Arial"/>
              </a:rPr>
              <a:t>HVCC Conceptual Model · Red Part · 2</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0" name="Shape 180"/>
        <p:cNvGrpSpPr/>
        <p:nvPr/>
      </p:nvGrpSpPr>
      <p:grpSpPr>
        <a:xfrm>
          <a:off x="0" y="0"/>
          <a:ext cx="0" cy="0"/>
          <a:chOff x="0" y="0"/>
          <a:chExt cx="0" cy="0"/>
        </a:xfrm>
      </p:grpSpPr>
      <p:sp>
        <p:nvSpPr>
          <p:cNvPr id="181" name="Google Shape;181;p26"/>
          <p:cNvSpPr/>
          <p:nvPr/>
        </p:nvSpPr>
        <p:spPr>
          <a:xfrm>
            <a:off x="0" y="0"/>
            <a:ext cx="9144015" cy="82296"/>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6"/>
          <p:cNvSpPr/>
          <p:nvPr/>
        </p:nvSpPr>
        <p:spPr>
          <a:xfrm>
            <a:off x="411491" y="240030"/>
            <a:ext cx="768116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3557"/>
              </a:buClr>
              <a:buSzPts val="2000"/>
              <a:buFont typeface="Play"/>
              <a:buNone/>
            </a:pPr>
            <a:r>
              <a:rPr b="1" i="0" lang="en" sz="2000" u="none" cap="none" strike="noStrike">
                <a:solidFill>
                  <a:srgbClr val="1D3557"/>
                </a:solidFill>
                <a:latin typeface="Play"/>
                <a:ea typeface="Play"/>
                <a:cs typeface="Play"/>
                <a:sym typeface="Play"/>
              </a:rPr>
              <a:t>2) Data layer: Measurement is the actual value</a:t>
            </a:r>
            <a:endParaRPr b="0" i="0" sz="2000" u="none" cap="none" strike="noStrike">
              <a:solidFill>
                <a:schemeClr val="dk1"/>
              </a:solidFill>
              <a:latin typeface="Arial"/>
              <a:ea typeface="Arial"/>
              <a:cs typeface="Arial"/>
              <a:sym typeface="Arial"/>
            </a:endParaRPr>
          </a:p>
        </p:txBody>
      </p:sp>
      <p:sp>
        <p:nvSpPr>
          <p:cNvPr id="183" name="Google Shape;183;p26"/>
          <p:cNvSpPr/>
          <p:nvPr/>
        </p:nvSpPr>
        <p:spPr>
          <a:xfrm>
            <a:off x="425207" y="630936"/>
            <a:ext cx="6721019"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370"/>
              </a:buClr>
              <a:buSzPts val="1000"/>
              <a:buFont typeface="Arial"/>
              <a:buNone/>
            </a:pPr>
            <a:r>
              <a:rPr b="0" i="0" lang="en" sz="1300" u="none" cap="none" strike="noStrike">
                <a:solidFill>
                  <a:srgbClr val="5C6370"/>
                </a:solidFill>
                <a:latin typeface="Arial"/>
                <a:ea typeface="Arial"/>
                <a:cs typeface="Arial"/>
                <a:sym typeface="Arial"/>
              </a:rPr>
              <a:t>Measurement stores the real numeric evidence used for compliance evaluation.</a:t>
            </a:r>
            <a:endParaRPr b="0" i="0" sz="1300" u="none" cap="none" strike="noStrike">
              <a:solidFill>
                <a:schemeClr val="dk1"/>
              </a:solidFill>
              <a:latin typeface="Arial"/>
              <a:ea typeface="Arial"/>
              <a:cs typeface="Arial"/>
              <a:sym typeface="Arial"/>
            </a:endParaRPr>
          </a:p>
        </p:txBody>
      </p:sp>
      <p:sp>
        <p:nvSpPr>
          <p:cNvPr id="184" name="Google Shape;184;p26"/>
          <p:cNvSpPr/>
          <p:nvPr/>
        </p:nvSpPr>
        <p:spPr>
          <a:xfrm>
            <a:off x="582951" y="1294591"/>
            <a:ext cx="1707900" cy="624900"/>
          </a:xfrm>
          <a:prstGeom prst="roundRect">
            <a:avLst>
              <a:gd fmla="val 10667" name="adj"/>
            </a:avLst>
          </a:prstGeom>
          <a:solidFill>
            <a:srgbClr val="EDEBFA"/>
          </a:solidFill>
          <a:ln cap="flat" cmpd="sng" w="18500">
            <a:solidFill>
              <a:srgbClr val="6A5ACD"/>
            </a:solidFill>
            <a:prstDash val="solid"/>
            <a:round/>
            <a:headEnd len="sm" w="sm" type="none"/>
            <a:tailEnd len="sm" w="sm" type="none"/>
          </a:ln>
        </p:spPr>
        <p:txBody>
          <a:bodyPr anchorCtr="0" anchor="ctr" bIns="83300" lIns="83300" spcFirstLastPara="1" rIns="83300" wrap="square" tIns="83300">
            <a:noAutofit/>
          </a:bodyPr>
          <a:lstStyle/>
          <a:p>
            <a:pPr indent="0" lvl="0" marL="0" rtl="0" algn="l">
              <a:spcBef>
                <a:spcPts val="0"/>
              </a:spcBef>
              <a:spcAft>
                <a:spcPts val="0"/>
              </a:spcAft>
              <a:buNone/>
            </a:pPr>
            <a:r>
              <a:t/>
            </a:r>
            <a:endParaRPr/>
          </a:p>
        </p:txBody>
      </p:sp>
      <p:sp>
        <p:nvSpPr>
          <p:cNvPr id="185" name="Google Shape;185;p26"/>
          <p:cNvSpPr/>
          <p:nvPr/>
        </p:nvSpPr>
        <p:spPr>
          <a:xfrm>
            <a:off x="649599" y="1361235"/>
            <a:ext cx="1574700" cy="4914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701"/>
              <a:buFont typeface="Arial"/>
              <a:buNone/>
            </a:pPr>
            <a:r>
              <a:rPr b="1" i="0" lang="en" sz="1701" u="none" cap="none" strike="noStrike">
                <a:solidFill>
                  <a:srgbClr val="1F2937"/>
                </a:solidFill>
                <a:latin typeface="Arial"/>
                <a:ea typeface="Arial"/>
                <a:cs typeface="Arial"/>
                <a:sym typeface="Arial"/>
              </a:rPr>
              <a:t>Measurement</a:t>
            </a:r>
            <a:endParaRPr b="0" i="0" sz="1701" u="none" cap="none" strike="noStrike">
              <a:solidFill>
                <a:schemeClr val="dk1"/>
              </a:solidFill>
              <a:latin typeface="Arial"/>
              <a:ea typeface="Arial"/>
              <a:cs typeface="Arial"/>
              <a:sym typeface="Arial"/>
            </a:endParaRPr>
          </a:p>
        </p:txBody>
      </p:sp>
      <p:sp>
        <p:nvSpPr>
          <p:cNvPr id="186" name="Google Shape;186;p26"/>
          <p:cNvSpPr/>
          <p:nvPr/>
        </p:nvSpPr>
        <p:spPr>
          <a:xfrm>
            <a:off x="749570" y="2019346"/>
            <a:ext cx="1416300" cy="23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937"/>
              </a:buClr>
              <a:buSzPts val="1215"/>
              <a:buFont typeface="Arial"/>
              <a:buNone/>
            </a:pPr>
            <a:r>
              <a:rPr b="0" i="0" lang="en" sz="1215" u="none" cap="none" strike="noStrike">
                <a:solidFill>
                  <a:srgbClr val="1F2937"/>
                </a:solidFill>
                <a:latin typeface="Arial"/>
                <a:ea typeface="Arial"/>
                <a:cs typeface="Arial"/>
                <a:sym typeface="Arial"/>
              </a:rPr>
              <a:t>numericalValue: decimal</a:t>
            </a:r>
            <a:endParaRPr b="0" i="0" sz="1215" u="none" cap="none" strike="noStrike">
              <a:solidFill>
                <a:schemeClr val="dk1"/>
              </a:solidFill>
              <a:latin typeface="Arial"/>
              <a:ea typeface="Arial"/>
              <a:cs typeface="Arial"/>
              <a:sym typeface="Arial"/>
            </a:endParaRPr>
          </a:p>
        </p:txBody>
      </p:sp>
      <p:sp>
        <p:nvSpPr>
          <p:cNvPr id="187" name="Google Shape;187;p26"/>
          <p:cNvSpPr/>
          <p:nvPr/>
        </p:nvSpPr>
        <p:spPr>
          <a:xfrm>
            <a:off x="2582383" y="1486193"/>
            <a:ext cx="316500" cy="23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2065"/>
              <a:buFont typeface="Arial"/>
              <a:buNone/>
            </a:pPr>
            <a:r>
              <a:rPr b="1" i="0" lang="en" sz="2065" u="none" cap="none" strike="noStrike">
                <a:solidFill>
                  <a:srgbClr val="5C6370"/>
                </a:solidFill>
                <a:latin typeface="Arial"/>
                <a:ea typeface="Arial"/>
                <a:cs typeface="Arial"/>
                <a:sym typeface="Arial"/>
              </a:rPr>
              <a:t>→</a:t>
            </a:r>
            <a:endParaRPr b="0" i="0" sz="2065" u="none" cap="none" strike="noStrike">
              <a:solidFill>
                <a:schemeClr val="dk1"/>
              </a:solidFill>
              <a:latin typeface="Arial"/>
              <a:ea typeface="Arial"/>
              <a:cs typeface="Arial"/>
              <a:sym typeface="Arial"/>
            </a:endParaRPr>
          </a:p>
        </p:txBody>
      </p:sp>
      <p:sp>
        <p:nvSpPr>
          <p:cNvPr id="188" name="Google Shape;188;p26"/>
          <p:cNvSpPr/>
          <p:nvPr/>
        </p:nvSpPr>
        <p:spPr>
          <a:xfrm>
            <a:off x="2998931" y="1294591"/>
            <a:ext cx="2041200" cy="624900"/>
          </a:xfrm>
          <a:prstGeom prst="roundRect">
            <a:avLst>
              <a:gd fmla="val 10667" name="adj"/>
            </a:avLst>
          </a:prstGeom>
          <a:solidFill>
            <a:srgbClr val="FFF6D8"/>
          </a:solidFill>
          <a:ln cap="flat" cmpd="sng" w="18500">
            <a:solidFill>
              <a:srgbClr val="BFA43A"/>
            </a:solidFill>
            <a:prstDash val="solid"/>
            <a:round/>
            <a:headEnd len="sm" w="sm" type="none"/>
            <a:tailEnd len="sm" w="sm" type="none"/>
          </a:ln>
        </p:spPr>
        <p:txBody>
          <a:bodyPr anchorCtr="0" anchor="ctr" bIns="83300" lIns="83300" spcFirstLastPara="1" rIns="83300" wrap="square" tIns="83300">
            <a:noAutofit/>
          </a:bodyPr>
          <a:lstStyle/>
          <a:p>
            <a:pPr indent="0" lvl="0" marL="0" rtl="0" algn="l">
              <a:spcBef>
                <a:spcPts val="0"/>
              </a:spcBef>
              <a:spcAft>
                <a:spcPts val="0"/>
              </a:spcAft>
              <a:buNone/>
            </a:pPr>
            <a:r>
              <a:t/>
            </a:r>
            <a:endParaRPr/>
          </a:p>
        </p:txBody>
      </p:sp>
      <p:sp>
        <p:nvSpPr>
          <p:cNvPr id="189" name="Google Shape;189;p26"/>
          <p:cNvSpPr/>
          <p:nvPr/>
        </p:nvSpPr>
        <p:spPr>
          <a:xfrm>
            <a:off x="3065579" y="1361235"/>
            <a:ext cx="1907700" cy="4914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701"/>
              <a:buFont typeface="Arial"/>
              <a:buNone/>
            </a:pPr>
            <a:r>
              <a:rPr b="1" i="0" lang="en" sz="1458" u="none" cap="none" strike="noStrike">
                <a:solidFill>
                  <a:srgbClr val="1F2937"/>
                </a:solidFill>
                <a:latin typeface="Arial"/>
                <a:ea typeface="Arial"/>
                <a:cs typeface="Arial"/>
                <a:sym typeface="Arial"/>
              </a:rPr>
              <a:t>AssessmentContext</a:t>
            </a:r>
            <a:endParaRPr b="0" i="0" sz="1458" u="none" cap="none" strike="noStrike">
              <a:solidFill>
                <a:schemeClr val="dk1"/>
              </a:solidFill>
              <a:latin typeface="Arial"/>
              <a:ea typeface="Arial"/>
              <a:cs typeface="Arial"/>
              <a:sym typeface="Arial"/>
            </a:endParaRPr>
          </a:p>
        </p:txBody>
      </p:sp>
      <p:sp>
        <p:nvSpPr>
          <p:cNvPr id="190" name="Google Shape;190;p26"/>
          <p:cNvSpPr/>
          <p:nvPr/>
        </p:nvSpPr>
        <p:spPr>
          <a:xfrm>
            <a:off x="5331601" y="1486193"/>
            <a:ext cx="316500" cy="233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2065"/>
              <a:buFont typeface="Arial"/>
              <a:buNone/>
            </a:pPr>
            <a:r>
              <a:rPr b="1" i="0" lang="en" sz="2065" u="none" cap="none" strike="noStrike">
                <a:solidFill>
                  <a:srgbClr val="5C6370"/>
                </a:solidFill>
                <a:latin typeface="Arial"/>
                <a:ea typeface="Arial"/>
                <a:cs typeface="Arial"/>
                <a:sym typeface="Arial"/>
              </a:rPr>
              <a:t>→</a:t>
            </a:r>
            <a:endParaRPr b="0" i="0" sz="2065" u="none" cap="none" strike="noStrike">
              <a:solidFill>
                <a:schemeClr val="dk1"/>
              </a:solidFill>
              <a:latin typeface="Arial"/>
              <a:ea typeface="Arial"/>
              <a:cs typeface="Arial"/>
              <a:sym typeface="Arial"/>
            </a:endParaRPr>
          </a:p>
        </p:txBody>
      </p:sp>
      <p:sp>
        <p:nvSpPr>
          <p:cNvPr id="191" name="Google Shape;191;p26"/>
          <p:cNvSpPr/>
          <p:nvPr/>
        </p:nvSpPr>
        <p:spPr>
          <a:xfrm>
            <a:off x="5723157" y="1294591"/>
            <a:ext cx="2541000" cy="624900"/>
          </a:xfrm>
          <a:prstGeom prst="roundRect">
            <a:avLst>
              <a:gd fmla="val 10667" name="adj"/>
            </a:avLst>
          </a:prstGeom>
          <a:solidFill>
            <a:srgbClr val="FFFFFF"/>
          </a:solidFill>
          <a:ln cap="flat" cmpd="sng" w="18500">
            <a:solidFill>
              <a:srgbClr val="CBD5E1"/>
            </a:solidFill>
            <a:prstDash val="solid"/>
            <a:round/>
            <a:headEnd len="sm" w="sm" type="none"/>
            <a:tailEnd len="sm" w="sm" type="none"/>
          </a:ln>
        </p:spPr>
        <p:txBody>
          <a:bodyPr anchorCtr="0" anchor="ctr" bIns="83300" lIns="83300" spcFirstLastPara="1" rIns="83300" wrap="square" tIns="83300">
            <a:noAutofit/>
          </a:bodyPr>
          <a:lstStyle/>
          <a:p>
            <a:pPr indent="0" lvl="0" marL="0" rtl="0" algn="l">
              <a:spcBef>
                <a:spcPts val="0"/>
              </a:spcBef>
              <a:spcAft>
                <a:spcPts val="0"/>
              </a:spcAft>
              <a:buNone/>
            </a:pPr>
            <a:r>
              <a:t/>
            </a:r>
            <a:endParaRPr/>
          </a:p>
        </p:txBody>
      </p:sp>
      <p:sp>
        <p:nvSpPr>
          <p:cNvPr id="192" name="Google Shape;192;p26"/>
          <p:cNvSpPr/>
          <p:nvPr/>
        </p:nvSpPr>
        <p:spPr>
          <a:xfrm>
            <a:off x="5789804" y="1361235"/>
            <a:ext cx="2407500" cy="491400"/>
          </a:xfrm>
          <a:prstGeom prst="rect">
            <a:avLst/>
          </a:prstGeom>
          <a:noFill/>
          <a:ln>
            <a:noFill/>
          </a:ln>
        </p:spPr>
        <p:txBody>
          <a:bodyPr anchorCtr="0" anchor="ctr" bIns="250" lIns="250" spcFirstLastPara="1" rIns="250" wrap="square" tIns="250">
            <a:noAutofit/>
          </a:bodyPr>
          <a:lstStyle/>
          <a:p>
            <a:pPr indent="0" lvl="0" marL="0" marR="0" rtl="0" algn="ctr">
              <a:spcBef>
                <a:spcPts val="0"/>
              </a:spcBef>
              <a:spcAft>
                <a:spcPts val="0"/>
              </a:spcAft>
              <a:buClr>
                <a:srgbClr val="1F2937"/>
              </a:buClr>
              <a:buSzPts val="1579"/>
              <a:buFont typeface="Arial"/>
              <a:buNone/>
            </a:pPr>
            <a:r>
              <a:rPr b="1" i="0" lang="en" sz="1579" u="none" cap="none" strike="noStrike">
                <a:solidFill>
                  <a:srgbClr val="1F2937"/>
                </a:solidFill>
                <a:latin typeface="Arial"/>
                <a:ea typeface="Arial"/>
                <a:cs typeface="Arial"/>
                <a:sym typeface="Arial"/>
              </a:rPr>
              <a:t>Room + time + relevant data</a:t>
            </a:r>
            <a:endParaRPr b="0" i="0" sz="1579" u="none" cap="none" strike="noStrike">
              <a:solidFill>
                <a:schemeClr val="dk1"/>
              </a:solidFill>
              <a:latin typeface="Arial"/>
              <a:ea typeface="Arial"/>
              <a:cs typeface="Arial"/>
              <a:sym typeface="Arial"/>
            </a:endParaRPr>
          </a:p>
        </p:txBody>
      </p:sp>
      <p:sp>
        <p:nvSpPr>
          <p:cNvPr id="193" name="Google Shape;193;p26"/>
          <p:cNvSpPr/>
          <p:nvPr/>
        </p:nvSpPr>
        <p:spPr>
          <a:xfrm>
            <a:off x="425200" y="2777500"/>
            <a:ext cx="2129400" cy="964200"/>
          </a:xfrm>
          <a:prstGeom prst="roundRect">
            <a:avLst>
              <a:gd fmla="val 6667" name="adj"/>
            </a:avLst>
          </a:prstGeom>
          <a:solidFill>
            <a:srgbClr val="FFFFFF"/>
          </a:solidFill>
          <a:ln cap="flat" cmpd="sng" w="14875">
            <a:solidFill>
              <a:srgbClr val="DDE3EA"/>
            </a:solidFill>
            <a:prstDash val="solid"/>
            <a:round/>
            <a:headEnd len="sm" w="sm" type="none"/>
            <a:tailEnd len="sm" w="sm" type="none"/>
          </a:ln>
        </p:spPr>
        <p:txBody>
          <a:bodyPr anchorCtr="0" anchor="ctr" bIns="80350" lIns="80350" spcFirstLastPara="1" rIns="80350" wrap="square" tIns="80350">
            <a:noAutofit/>
          </a:bodyPr>
          <a:lstStyle/>
          <a:p>
            <a:pPr indent="0" lvl="0" marL="0" rtl="0" algn="l">
              <a:spcBef>
                <a:spcPts val="0"/>
              </a:spcBef>
              <a:spcAft>
                <a:spcPts val="0"/>
              </a:spcAft>
              <a:buNone/>
            </a:pPr>
            <a:r>
              <a:t/>
            </a:r>
            <a:endParaRPr/>
          </a:p>
        </p:txBody>
      </p:sp>
      <p:sp>
        <p:nvSpPr>
          <p:cNvPr id="194" name="Google Shape;194;p26"/>
          <p:cNvSpPr/>
          <p:nvPr/>
        </p:nvSpPr>
        <p:spPr>
          <a:xfrm>
            <a:off x="626069" y="2835478"/>
            <a:ext cx="1285800" cy="24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1640"/>
              <a:buFont typeface="Arial"/>
              <a:buNone/>
            </a:pPr>
            <a:r>
              <a:rPr b="0" i="0" lang="en" sz="1640" u="none" cap="none" strike="noStrike">
                <a:solidFill>
                  <a:srgbClr val="C85C5C"/>
                </a:solidFill>
                <a:latin typeface="Arial"/>
                <a:ea typeface="Arial"/>
                <a:cs typeface="Arial"/>
                <a:sym typeface="Arial"/>
              </a:rPr>
              <a:t>Actual data</a:t>
            </a:r>
            <a:endParaRPr b="0" i="0" sz="1640" u="none" cap="none" strike="noStrike">
              <a:solidFill>
                <a:schemeClr val="dk1"/>
              </a:solidFill>
              <a:latin typeface="Arial"/>
              <a:ea typeface="Arial"/>
              <a:cs typeface="Arial"/>
              <a:sym typeface="Arial"/>
            </a:endParaRPr>
          </a:p>
        </p:txBody>
      </p:sp>
      <p:sp>
        <p:nvSpPr>
          <p:cNvPr id="195" name="Google Shape;195;p26"/>
          <p:cNvSpPr/>
          <p:nvPr/>
        </p:nvSpPr>
        <p:spPr>
          <a:xfrm>
            <a:off x="626032" y="3163001"/>
            <a:ext cx="1647000" cy="47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9"/>
              <a:buFont typeface="Arial"/>
              <a:buNone/>
            </a:pPr>
            <a:r>
              <a:rPr b="0" i="0" lang="en" sz="1289" u="none" cap="none" strike="noStrike">
                <a:solidFill>
                  <a:srgbClr val="1F2937"/>
                </a:solidFill>
                <a:latin typeface="Arial"/>
                <a:ea typeface="Arial"/>
                <a:cs typeface="Arial"/>
                <a:sym typeface="Arial"/>
              </a:rPr>
              <a:t>ACH = 8</a:t>
            </a:r>
            <a:endParaRPr b="0" i="0" sz="1289"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2937"/>
              </a:buClr>
              <a:buSzPts val="1289"/>
              <a:buFont typeface="Arial"/>
              <a:buNone/>
            </a:pPr>
            <a:r>
              <a:rPr b="0" i="0" lang="en" sz="1289" u="none" cap="none" strike="noStrike">
                <a:solidFill>
                  <a:srgbClr val="1F2937"/>
                </a:solidFill>
                <a:latin typeface="Arial"/>
                <a:ea typeface="Arial"/>
                <a:cs typeface="Arial"/>
                <a:sym typeface="Arial"/>
              </a:rPr>
              <a:t>Temperature = 22°C</a:t>
            </a:r>
            <a:endParaRPr b="0" i="0" sz="1289"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F2937"/>
              </a:buClr>
              <a:buSzPts val="1289"/>
              <a:buFont typeface="Arial"/>
              <a:buNone/>
            </a:pPr>
            <a:r>
              <a:rPr b="0" i="0" lang="en" sz="1289" u="none" cap="none" strike="noStrike">
                <a:solidFill>
                  <a:srgbClr val="1F2937"/>
                </a:solidFill>
                <a:latin typeface="Arial"/>
                <a:ea typeface="Arial"/>
                <a:cs typeface="Arial"/>
                <a:sym typeface="Arial"/>
              </a:rPr>
              <a:t>Humidity = 48%</a:t>
            </a:r>
            <a:endParaRPr b="0" i="0" sz="1289" u="none" cap="none" strike="noStrike">
              <a:solidFill>
                <a:schemeClr val="dk1"/>
              </a:solidFill>
              <a:latin typeface="Arial"/>
              <a:ea typeface="Arial"/>
              <a:cs typeface="Arial"/>
              <a:sym typeface="Arial"/>
            </a:endParaRPr>
          </a:p>
        </p:txBody>
      </p:sp>
      <p:sp>
        <p:nvSpPr>
          <p:cNvPr id="196" name="Google Shape;196;p26"/>
          <p:cNvSpPr/>
          <p:nvPr/>
        </p:nvSpPr>
        <p:spPr>
          <a:xfrm>
            <a:off x="3076819" y="2777500"/>
            <a:ext cx="2571300" cy="964200"/>
          </a:xfrm>
          <a:prstGeom prst="roundRect">
            <a:avLst>
              <a:gd fmla="val 6667" name="adj"/>
            </a:avLst>
          </a:prstGeom>
          <a:solidFill>
            <a:srgbClr val="FFFFFF"/>
          </a:solidFill>
          <a:ln cap="flat" cmpd="sng" w="14875">
            <a:solidFill>
              <a:srgbClr val="DDE3EA"/>
            </a:solidFill>
            <a:prstDash val="solid"/>
            <a:round/>
            <a:headEnd len="sm" w="sm" type="none"/>
            <a:tailEnd len="sm" w="sm" type="none"/>
          </a:ln>
        </p:spPr>
        <p:txBody>
          <a:bodyPr anchorCtr="0" anchor="ctr" bIns="80350" lIns="80350" spcFirstLastPara="1" rIns="80350" wrap="square" tIns="80350">
            <a:noAutofit/>
          </a:bodyPr>
          <a:lstStyle/>
          <a:p>
            <a:pPr indent="0" lvl="0" marL="0" rtl="0" algn="l">
              <a:spcBef>
                <a:spcPts val="0"/>
              </a:spcBef>
              <a:spcAft>
                <a:spcPts val="0"/>
              </a:spcAft>
              <a:buNone/>
            </a:pPr>
            <a:r>
              <a:t/>
            </a:r>
            <a:endParaRPr/>
          </a:p>
        </p:txBody>
      </p:sp>
      <p:sp>
        <p:nvSpPr>
          <p:cNvPr id="197" name="Google Shape;197;p26"/>
          <p:cNvSpPr/>
          <p:nvPr/>
        </p:nvSpPr>
        <p:spPr>
          <a:xfrm>
            <a:off x="3305118" y="2835508"/>
            <a:ext cx="1848000" cy="24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FA43A"/>
              </a:buClr>
              <a:buSzPts val="1640"/>
              <a:buFont typeface="Arial"/>
              <a:buNone/>
            </a:pPr>
            <a:r>
              <a:rPr b="0" i="0" lang="en" sz="1640" u="none" cap="none" strike="noStrike">
                <a:solidFill>
                  <a:srgbClr val="BFA43A"/>
                </a:solidFill>
                <a:latin typeface="Arial"/>
                <a:ea typeface="Arial"/>
                <a:cs typeface="Arial"/>
                <a:sym typeface="Arial"/>
              </a:rPr>
              <a:t>Context means:</a:t>
            </a:r>
            <a:endParaRPr b="0" i="0" sz="1640" u="none" cap="none" strike="noStrike">
              <a:solidFill>
                <a:schemeClr val="dk1"/>
              </a:solidFill>
              <a:latin typeface="Arial"/>
              <a:ea typeface="Arial"/>
              <a:cs typeface="Arial"/>
              <a:sym typeface="Arial"/>
            </a:endParaRPr>
          </a:p>
        </p:txBody>
      </p:sp>
      <p:sp>
        <p:nvSpPr>
          <p:cNvPr id="198" name="Google Shape;198;p26"/>
          <p:cNvSpPr/>
          <p:nvPr/>
        </p:nvSpPr>
        <p:spPr>
          <a:xfrm>
            <a:off x="3305125" y="3076624"/>
            <a:ext cx="2200500" cy="56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89"/>
              <a:buFont typeface="Arial"/>
              <a:buNone/>
            </a:pPr>
            <a:r>
              <a:rPr b="0" i="0" lang="en" sz="1289" u="none" cap="none" strike="noStrike">
                <a:solidFill>
                  <a:srgbClr val="1F2937"/>
                </a:solidFill>
                <a:latin typeface="Arial"/>
                <a:ea typeface="Arial"/>
                <a:cs typeface="Arial"/>
                <a:sym typeface="Arial"/>
              </a:rPr>
              <a:t>“What room are we evaluating, and what data are we using?”</a:t>
            </a:r>
            <a:endParaRPr b="0" i="0" sz="1289" u="none" cap="none" strike="noStrike">
              <a:solidFill>
                <a:schemeClr val="dk1"/>
              </a:solidFill>
              <a:latin typeface="Arial"/>
              <a:ea typeface="Arial"/>
              <a:cs typeface="Arial"/>
              <a:sym typeface="Arial"/>
            </a:endParaRPr>
          </a:p>
        </p:txBody>
      </p:sp>
      <p:pic>
        <p:nvPicPr>
          <p:cNvPr descr="/mnt/data/user-OTjuqXMhFE11WJH80Np5vvK3/fa635f297173420aaa4f771870c7d1bb/mnt/data/right.png" id="199" name="Google Shape;199;p26"/>
          <p:cNvPicPr preferRelativeResize="0"/>
          <p:nvPr/>
        </p:nvPicPr>
        <p:blipFill rotWithShape="1">
          <a:blip r:embed="rId3">
            <a:alphaModFix/>
          </a:blip>
          <a:srcRect b="0" l="0" r="0" t="0"/>
          <a:stretch/>
        </p:blipFill>
        <p:spPr>
          <a:xfrm>
            <a:off x="6340145" y="2366010"/>
            <a:ext cx="1481818" cy="1508760"/>
          </a:xfrm>
          <a:prstGeom prst="rect">
            <a:avLst/>
          </a:prstGeom>
          <a:noFill/>
          <a:ln>
            <a:noFill/>
          </a:ln>
        </p:spPr>
      </p:pic>
      <p:sp>
        <p:nvSpPr>
          <p:cNvPr id="200" name="Google Shape;200;p26"/>
          <p:cNvSpPr/>
          <p:nvPr/>
        </p:nvSpPr>
        <p:spPr>
          <a:xfrm>
            <a:off x="5932328" y="2366010"/>
            <a:ext cx="2297491" cy="1508760"/>
          </a:xfrm>
          <a:prstGeom prst="rect">
            <a:avLst/>
          </a:prstGeom>
          <a:solidFill>
            <a:srgbClr val="FFFFFF">
              <a:alpha val="0"/>
            </a:srgbClr>
          </a:solidFill>
          <a:ln cap="flat" cmpd="sng" w="12700">
            <a:solidFill>
              <a:srgbClr val="D2D7D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6"/>
          <p:cNvSpPr/>
          <p:nvPr/>
        </p:nvSpPr>
        <p:spPr>
          <a:xfrm>
            <a:off x="411491" y="4834890"/>
            <a:ext cx="2880437"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7"/>
              </a:buClr>
              <a:buSzPts val="600"/>
              <a:buFont typeface="Arial"/>
              <a:buNone/>
            </a:pPr>
            <a:r>
              <a:rPr b="0" i="0" lang="en" sz="600" u="none" cap="none" strike="noStrike">
                <a:solidFill>
                  <a:srgbClr val="7A7F87"/>
                </a:solidFill>
                <a:latin typeface="Arial"/>
                <a:ea typeface="Arial"/>
                <a:cs typeface="Arial"/>
                <a:sym typeface="Arial"/>
              </a:rPr>
              <a:t>HVCC Conceptual Model · Red Part · 3</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27"/>
          <p:cNvSpPr/>
          <p:nvPr/>
        </p:nvSpPr>
        <p:spPr>
          <a:xfrm>
            <a:off x="0" y="0"/>
            <a:ext cx="9144015" cy="82296"/>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7"/>
          <p:cNvSpPr/>
          <p:nvPr/>
        </p:nvSpPr>
        <p:spPr>
          <a:xfrm>
            <a:off x="411491" y="240030"/>
            <a:ext cx="768116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3557"/>
              </a:buClr>
              <a:buSzPts val="2000"/>
              <a:buFont typeface="Play"/>
              <a:buNone/>
            </a:pPr>
            <a:r>
              <a:rPr b="1" i="0" lang="en" sz="2000" u="none" cap="none" strike="noStrike">
                <a:solidFill>
                  <a:srgbClr val="1D3557"/>
                </a:solidFill>
                <a:latin typeface="Play"/>
                <a:ea typeface="Play"/>
                <a:cs typeface="Play"/>
                <a:sym typeface="Play"/>
              </a:rPr>
              <a:t>3) Assessment layer: from context to policy checks</a:t>
            </a:r>
            <a:endParaRPr b="0" i="0" sz="2000" u="none" cap="none" strike="noStrike">
              <a:solidFill>
                <a:schemeClr val="dk1"/>
              </a:solidFill>
              <a:latin typeface="Arial"/>
              <a:ea typeface="Arial"/>
              <a:cs typeface="Arial"/>
              <a:sym typeface="Arial"/>
            </a:endParaRPr>
          </a:p>
        </p:txBody>
      </p:sp>
      <p:sp>
        <p:nvSpPr>
          <p:cNvPr id="209" name="Google Shape;209;p27"/>
          <p:cNvSpPr/>
          <p:nvPr/>
        </p:nvSpPr>
        <p:spPr>
          <a:xfrm>
            <a:off x="425207" y="630936"/>
            <a:ext cx="6721019"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370"/>
              </a:buClr>
              <a:buSzPts val="1000"/>
              <a:buFont typeface="Arial"/>
              <a:buNone/>
            </a:pPr>
            <a:r>
              <a:rPr b="0" i="0" lang="en" sz="1300" u="none" cap="none" strike="noStrike">
                <a:solidFill>
                  <a:srgbClr val="5C6370"/>
                </a:solidFill>
                <a:latin typeface="Arial"/>
                <a:ea typeface="Arial"/>
                <a:cs typeface="Arial"/>
                <a:sym typeface="Arial"/>
              </a:rPr>
              <a:t>The context becomes an overall assessment, then detailed checks for each policy.</a:t>
            </a:r>
            <a:endParaRPr b="0" i="0" sz="1300" u="none" cap="none" strike="noStrike">
              <a:solidFill>
                <a:schemeClr val="dk1"/>
              </a:solidFill>
              <a:latin typeface="Arial"/>
              <a:ea typeface="Arial"/>
              <a:cs typeface="Arial"/>
              <a:sym typeface="Arial"/>
            </a:endParaRPr>
          </a:p>
        </p:txBody>
      </p:sp>
      <p:sp>
        <p:nvSpPr>
          <p:cNvPr id="210" name="Google Shape;210;p27"/>
          <p:cNvSpPr/>
          <p:nvPr/>
        </p:nvSpPr>
        <p:spPr>
          <a:xfrm>
            <a:off x="259100" y="1350919"/>
            <a:ext cx="1749300" cy="678300"/>
          </a:xfrm>
          <a:prstGeom prst="roundRect">
            <a:avLst>
              <a:gd fmla="val 8421" name="adj"/>
            </a:avLst>
          </a:prstGeom>
          <a:solidFill>
            <a:srgbClr val="FFF6D8"/>
          </a:solidFill>
          <a:ln cap="flat" cmpd="sng" w="15850">
            <a:solidFill>
              <a:srgbClr val="BFA43A"/>
            </a:solidFill>
            <a:prstDash val="solid"/>
            <a:round/>
            <a:headEnd len="sm" w="sm" type="none"/>
            <a:tailEnd len="sm" w="sm" type="none"/>
          </a:ln>
        </p:spPr>
        <p:txBody>
          <a:bodyPr anchorCtr="0" anchor="ctr" bIns="71375" lIns="71375" spcFirstLastPara="1" rIns="71375" wrap="square" tIns="71375">
            <a:noAutofit/>
          </a:bodyPr>
          <a:lstStyle/>
          <a:p>
            <a:pPr indent="0" lvl="0" marL="0" rtl="0" algn="l">
              <a:spcBef>
                <a:spcPts val="0"/>
              </a:spcBef>
              <a:spcAft>
                <a:spcPts val="0"/>
              </a:spcAft>
              <a:buNone/>
            </a:pPr>
            <a:r>
              <a:t/>
            </a:r>
            <a:endParaRPr/>
          </a:p>
        </p:txBody>
      </p:sp>
      <p:sp>
        <p:nvSpPr>
          <p:cNvPr id="211" name="Google Shape;211;p27"/>
          <p:cNvSpPr/>
          <p:nvPr/>
        </p:nvSpPr>
        <p:spPr>
          <a:xfrm>
            <a:off x="316226" y="1408042"/>
            <a:ext cx="1635300" cy="5640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AssessmentContext</a:t>
            </a:r>
            <a:endParaRPr b="0" i="0" sz="1249"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input/background</a:t>
            </a:r>
            <a:endParaRPr b="0" i="0" sz="1249" u="none" cap="none" strike="noStrike">
              <a:solidFill>
                <a:schemeClr val="dk1"/>
              </a:solidFill>
              <a:latin typeface="Arial"/>
              <a:ea typeface="Arial"/>
              <a:cs typeface="Arial"/>
              <a:sym typeface="Arial"/>
            </a:endParaRPr>
          </a:p>
        </p:txBody>
      </p:sp>
      <p:sp>
        <p:nvSpPr>
          <p:cNvPr id="212" name="Google Shape;212;p27"/>
          <p:cNvSpPr/>
          <p:nvPr/>
        </p:nvSpPr>
        <p:spPr>
          <a:xfrm>
            <a:off x="2187091" y="1572271"/>
            <a:ext cx="271500" cy="20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70"/>
              <a:buFont typeface="Arial"/>
              <a:buNone/>
            </a:pPr>
            <a:r>
              <a:rPr b="1" i="0" lang="en" sz="1770" u="none" cap="none" strike="noStrike">
                <a:solidFill>
                  <a:srgbClr val="5C6370"/>
                </a:solidFill>
                <a:latin typeface="Arial"/>
                <a:ea typeface="Arial"/>
                <a:cs typeface="Arial"/>
                <a:sym typeface="Arial"/>
              </a:rPr>
              <a:t>→</a:t>
            </a:r>
            <a:endParaRPr b="0" i="0" sz="1770" u="none" cap="none" strike="noStrike">
              <a:solidFill>
                <a:schemeClr val="dk1"/>
              </a:solidFill>
              <a:latin typeface="Arial"/>
              <a:ea typeface="Arial"/>
              <a:cs typeface="Arial"/>
              <a:sym typeface="Arial"/>
            </a:endParaRPr>
          </a:p>
        </p:txBody>
      </p:sp>
      <p:sp>
        <p:nvSpPr>
          <p:cNvPr id="213" name="Google Shape;213;p27"/>
          <p:cNvSpPr/>
          <p:nvPr/>
        </p:nvSpPr>
        <p:spPr>
          <a:xfrm>
            <a:off x="2508423" y="1350919"/>
            <a:ext cx="1963800" cy="678300"/>
          </a:xfrm>
          <a:prstGeom prst="roundRect">
            <a:avLst>
              <a:gd fmla="val 8421" name="adj"/>
            </a:avLst>
          </a:prstGeom>
          <a:solidFill>
            <a:srgbClr val="F8E8E8"/>
          </a:solidFill>
          <a:ln cap="flat" cmpd="sng" w="15850">
            <a:solidFill>
              <a:srgbClr val="C85C5C"/>
            </a:solidFill>
            <a:prstDash val="solid"/>
            <a:round/>
            <a:headEnd len="sm" w="sm" type="none"/>
            <a:tailEnd len="sm" w="sm" type="none"/>
          </a:ln>
        </p:spPr>
        <p:txBody>
          <a:bodyPr anchorCtr="0" anchor="ctr" bIns="71375" lIns="71375" spcFirstLastPara="1" rIns="71375" wrap="square" tIns="71375">
            <a:noAutofit/>
          </a:bodyPr>
          <a:lstStyle/>
          <a:p>
            <a:pPr indent="0" lvl="0" marL="0" rtl="0" algn="l">
              <a:spcBef>
                <a:spcPts val="0"/>
              </a:spcBef>
              <a:spcAft>
                <a:spcPts val="0"/>
              </a:spcAft>
              <a:buNone/>
            </a:pPr>
            <a:r>
              <a:t/>
            </a:r>
            <a:endParaRPr/>
          </a:p>
        </p:txBody>
      </p:sp>
      <p:sp>
        <p:nvSpPr>
          <p:cNvPr id="214" name="Google Shape;214;p27"/>
          <p:cNvSpPr/>
          <p:nvPr/>
        </p:nvSpPr>
        <p:spPr>
          <a:xfrm>
            <a:off x="2565548" y="1408042"/>
            <a:ext cx="1849500" cy="5640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ComplianceAssessment</a:t>
            </a:r>
            <a:endParaRPr b="0" i="0" sz="1249"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overall evaluation</a:t>
            </a:r>
            <a:endParaRPr b="0" i="0" sz="1249" u="none" cap="none" strike="noStrike">
              <a:solidFill>
                <a:schemeClr val="dk1"/>
              </a:solidFill>
              <a:latin typeface="Arial"/>
              <a:ea typeface="Arial"/>
              <a:cs typeface="Arial"/>
              <a:sym typeface="Arial"/>
            </a:endParaRPr>
          </a:p>
        </p:txBody>
      </p:sp>
      <p:sp>
        <p:nvSpPr>
          <p:cNvPr id="215" name="Google Shape;215;p27"/>
          <p:cNvSpPr/>
          <p:nvPr/>
        </p:nvSpPr>
        <p:spPr>
          <a:xfrm>
            <a:off x="4686338" y="1572271"/>
            <a:ext cx="271500" cy="20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70"/>
              <a:buFont typeface="Arial"/>
              <a:buNone/>
            </a:pPr>
            <a:r>
              <a:rPr b="1" i="0" lang="en" sz="1770" u="none" cap="none" strike="noStrike">
                <a:solidFill>
                  <a:srgbClr val="5C6370"/>
                </a:solidFill>
                <a:latin typeface="Arial"/>
                <a:ea typeface="Arial"/>
                <a:cs typeface="Arial"/>
                <a:sym typeface="Arial"/>
              </a:rPr>
              <a:t>→</a:t>
            </a:r>
            <a:endParaRPr b="0" i="0" sz="1770" u="none" cap="none" strike="noStrike">
              <a:solidFill>
                <a:schemeClr val="dk1"/>
              </a:solidFill>
              <a:latin typeface="Arial"/>
              <a:ea typeface="Arial"/>
              <a:cs typeface="Arial"/>
              <a:sym typeface="Arial"/>
            </a:endParaRPr>
          </a:p>
        </p:txBody>
      </p:sp>
      <p:sp>
        <p:nvSpPr>
          <p:cNvPr id="216" name="Google Shape;216;p27"/>
          <p:cNvSpPr/>
          <p:nvPr/>
        </p:nvSpPr>
        <p:spPr>
          <a:xfrm>
            <a:off x="5043374" y="1350919"/>
            <a:ext cx="1749300" cy="678300"/>
          </a:xfrm>
          <a:prstGeom prst="roundRect">
            <a:avLst>
              <a:gd fmla="val 8421" name="adj"/>
            </a:avLst>
          </a:prstGeom>
          <a:solidFill>
            <a:srgbClr val="F8E8E8"/>
          </a:solidFill>
          <a:ln cap="flat" cmpd="sng" w="15850">
            <a:solidFill>
              <a:srgbClr val="C85C5C"/>
            </a:solidFill>
            <a:prstDash val="solid"/>
            <a:round/>
            <a:headEnd len="sm" w="sm" type="none"/>
            <a:tailEnd len="sm" w="sm" type="none"/>
          </a:ln>
        </p:spPr>
        <p:txBody>
          <a:bodyPr anchorCtr="0" anchor="ctr" bIns="71375" lIns="71375" spcFirstLastPara="1" rIns="71375" wrap="square" tIns="71375">
            <a:noAutofit/>
          </a:bodyPr>
          <a:lstStyle/>
          <a:p>
            <a:pPr indent="0" lvl="0" marL="0" rtl="0" algn="l">
              <a:spcBef>
                <a:spcPts val="0"/>
              </a:spcBef>
              <a:spcAft>
                <a:spcPts val="0"/>
              </a:spcAft>
              <a:buNone/>
            </a:pPr>
            <a:r>
              <a:t/>
            </a:r>
            <a:endParaRPr/>
          </a:p>
        </p:txBody>
      </p:sp>
      <p:sp>
        <p:nvSpPr>
          <p:cNvPr id="217" name="Google Shape;217;p27"/>
          <p:cNvSpPr/>
          <p:nvPr/>
        </p:nvSpPr>
        <p:spPr>
          <a:xfrm>
            <a:off x="5100499" y="1408042"/>
            <a:ext cx="1635300" cy="5640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PolicyAssessment</a:t>
            </a:r>
            <a:endParaRPr b="0" i="0" sz="1249"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one policy check</a:t>
            </a:r>
            <a:endParaRPr b="0" i="0" sz="1249" u="none" cap="none" strike="noStrike">
              <a:solidFill>
                <a:schemeClr val="dk1"/>
              </a:solidFill>
              <a:latin typeface="Arial"/>
              <a:ea typeface="Arial"/>
              <a:cs typeface="Arial"/>
              <a:sym typeface="Arial"/>
            </a:endParaRPr>
          </a:p>
        </p:txBody>
      </p:sp>
      <p:sp>
        <p:nvSpPr>
          <p:cNvPr id="218" name="Google Shape;218;p27"/>
          <p:cNvSpPr/>
          <p:nvPr/>
        </p:nvSpPr>
        <p:spPr>
          <a:xfrm>
            <a:off x="6971365" y="1572271"/>
            <a:ext cx="271500" cy="20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770"/>
              <a:buFont typeface="Arial"/>
              <a:buNone/>
            </a:pPr>
            <a:r>
              <a:rPr b="1" i="0" lang="en" sz="1770" u="none" cap="none" strike="noStrike">
                <a:solidFill>
                  <a:srgbClr val="5C6370"/>
                </a:solidFill>
                <a:latin typeface="Arial"/>
                <a:ea typeface="Arial"/>
                <a:cs typeface="Arial"/>
                <a:sym typeface="Arial"/>
              </a:rPr>
              <a:t>→</a:t>
            </a:r>
            <a:endParaRPr b="0" i="0" sz="1770" u="none" cap="none" strike="noStrike">
              <a:solidFill>
                <a:schemeClr val="dk1"/>
              </a:solidFill>
              <a:latin typeface="Arial"/>
              <a:ea typeface="Arial"/>
              <a:cs typeface="Arial"/>
              <a:sym typeface="Arial"/>
            </a:endParaRPr>
          </a:p>
        </p:txBody>
      </p:sp>
      <p:sp>
        <p:nvSpPr>
          <p:cNvPr id="219" name="Google Shape;219;p27"/>
          <p:cNvSpPr/>
          <p:nvPr/>
        </p:nvSpPr>
        <p:spPr>
          <a:xfrm>
            <a:off x="7278415" y="1350919"/>
            <a:ext cx="1606500" cy="678300"/>
          </a:xfrm>
          <a:prstGeom prst="roundRect">
            <a:avLst>
              <a:gd fmla="val 8421" name="adj"/>
            </a:avLst>
          </a:prstGeom>
          <a:solidFill>
            <a:srgbClr val="F8E8E8"/>
          </a:solidFill>
          <a:ln cap="flat" cmpd="sng" w="15850">
            <a:solidFill>
              <a:srgbClr val="C85C5C"/>
            </a:solidFill>
            <a:prstDash val="solid"/>
            <a:round/>
            <a:headEnd len="sm" w="sm" type="none"/>
            <a:tailEnd len="sm" w="sm" type="none"/>
          </a:ln>
        </p:spPr>
        <p:txBody>
          <a:bodyPr anchorCtr="0" anchor="ctr" bIns="71375" lIns="71375" spcFirstLastPara="1" rIns="71375" wrap="square" tIns="71375">
            <a:noAutofit/>
          </a:bodyPr>
          <a:lstStyle/>
          <a:p>
            <a:pPr indent="0" lvl="0" marL="0" rtl="0" algn="l">
              <a:spcBef>
                <a:spcPts val="0"/>
              </a:spcBef>
              <a:spcAft>
                <a:spcPts val="0"/>
              </a:spcAft>
              <a:buNone/>
            </a:pPr>
            <a:r>
              <a:t/>
            </a:r>
            <a:endParaRPr/>
          </a:p>
        </p:txBody>
      </p:sp>
      <p:sp>
        <p:nvSpPr>
          <p:cNvPr id="220" name="Google Shape;220;p27"/>
          <p:cNvSpPr/>
          <p:nvPr/>
        </p:nvSpPr>
        <p:spPr>
          <a:xfrm>
            <a:off x="7335541" y="1408042"/>
            <a:ext cx="1492500" cy="5640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CompliancePolicy</a:t>
            </a:r>
            <a:endParaRPr b="0" i="0" sz="1249"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249"/>
              <a:buFont typeface="Arial"/>
              <a:buNone/>
            </a:pPr>
            <a:r>
              <a:rPr b="1" i="0" lang="en" sz="1249" u="none" cap="none" strike="noStrike">
                <a:solidFill>
                  <a:srgbClr val="1F2937"/>
                </a:solidFill>
                <a:latin typeface="Arial"/>
                <a:ea typeface="Arial"/>
                <a:cs typeface="Arial"/>
                <a:sym typeface="Arial"/>
              </a:rPr>
              <a:t>required threshold</a:t>
            </a:r>
            <a:endParaRPr b="0" i="0" sz="1249" u="none" cap="none" strike="noStrike">
              <a:solidFill>
                <a:schemeClr val="dk1"/>
              </a:solidFill>
              <a:latin typeface="Arial"/>
              <a:ea typeface="Arial"/>
              <a:cs typeface="Arial"/>
              <a:sym typeface="Arial"/>
            </a:endParaRPr>
          </a:p>
        </p:txBody>
      </p:sp>
      <p:sp>
        <p:nvSpPr>
          <p:cNvPr id="221" name="Google Shape;221;p27"/>
          <p:cNvSpPr/>
          <p:nvPr/>
        </p:nvSpPr>
        <p:spPr>
          <a:xfrm>
            <a:off x="518050" y="2835614"/>
            <a:ext cx="3929700" cy="939900"/>
          </a:xfrm>
          <a:prstGeom prst="roundRect">
            <a:avLst>
              <a:gd fmla="val 6557" name="adj"/>
            </a:avLst>
          </a:prstGeom>
          <a:solidFill>
            <a:srgbClr val="F8FAFC"/>
          </a:solidFill>
          <a:ln cap="flat" cmpd="sng" w="14275">
            <a:solidFill>
              <a:srgbClr val="DDE3EA"/>
            </a:solidFill>
            <a:prstDash val="solid"/>
            <a:round/>
            <a:headEnd len="sm" w="sm" type="none"/>
            <a:tailEnd len="sm" w="sm" type="none"/>
          </a:ln>
        </p:spPr>
        <p:txBody>
          <a:bodyPr anchorCtr="0" anchor="ctr" bIns="77050" lIns="77050" spcFirstLastPara="1" rIns="77050" wrap="square" tIns="77050">
            <a:noAutofit/>
          </a:bodyPr>
          <a:lstStyle/>
          <a:p>
            <a:pPr indent="0" lvl="0" marL="0" rtl="0" algn="l">
              <a:spcBef>
                <a:spcPts val="0"/>
              </a:spcBef>
              <a:spcAft>
                <a:spcPts val="0"/>
              </a:spcAft>
              <a:buNone/>
            </a:pPr>
            <a:r>
              <a:t/>
            </a:r>
            <a:endParaRPr/>
          </a:p>
        </p:txBody>
      </p:sp>
      <p:sp>
        <p:nvSpPr>
          <p:cNvPr id="222" name="Google Shape;222;p27"/>
          <p:cNvSpPr/>
          <p:nvPr/>
        </p:nvSpPr>
        <p:spPr>
          <a:xfrm>
            <a:off x="733800" y="2989716"/>
            <a:ext cx="3236100" cy="2313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1573"/>
              <a:buFont typeface="Arial"/>
              <a:buNone/>
            </a:pPr>
            <a:r>
              <a:rPr b="1" i="0" lang="en" sz="1573" u="none" cap="none" strike="noStrike">
                <a:solidFill>
                  <a:srgbClr val="C85C5C"/>
                </a:solidFill>
              </a:rPr>
              <a:t>ComplianceAssessment</a:t>
            </a:r>
            <a:endParaRPr b="1" i="0" sz="1573" u="none" cap="none" strike="noStrike">
              <a:solidFill>
                <a:schemeClr val="dk1"/>
              </a:solidFill>
            </a:endParaRPr>
          </a:p>
        </p:txBody>
      </p:sp>
      <p:sp>
        <p:nvSpPr>
          <p:cNvPr id="223" name="Google Shape;223;p27"/>
          <p:cNvSpPr/>
          <p:nvPr/>
        </p:nvSpPr>
        <p:spPr>
          <a:xfrm>
            <a:off x="733800" y="3297921"/>
            <a:ext cx="3390300" cy="3081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36"/>
              <a:buFont typeface="Arial"/>
              <a:buNone/>
            </a:pPr>
            <a:r>
              <a:rPr b="0" i="0" lang="en" sz="1236" u="none" cap="none" strike="noStrike">
                <a:solidFill>
                  <a:srgbClr val="1F2937"/>
                </a:solidFill>
                <a:latin typeface="Arial"/>
                <a:ea typeface="Arial"/>
                <a:cs typeface="Arial"/>
                <a:sym typeface="Arial"/>
              </a:rPr>
              <a:t>Checks whether a room or system satisfies the standards overall.</a:t>
            </a:r>
            <a:endParaRPr b="0" i="0" sz="1236" u="none" cap="none" strike="noStrike">
              <a:solidFill>
                <a:schemeClr val="dk1"/>
              </a:solidFill>
              <a:latin typeface="Arial"/>
              <a:ea typeface="Arial"/>
              <a:cs typeface="Arial"/>
              <a:sym typeface="Arial"/>
            </a:endParaRPr>
          </a:p>
        </p:txBody>
      </p:sp>
      <p:sp>
        <p:nvSpPr>
          <p:cNvPr id="224" name="Google Shape;224;p27"/>
          <p:cNvSpPr/>
          <p:nvPr/>
        </p:nvSpPr>
        <p:spPr>
          <a:xfrm>
            <a:off x="4927849" y="2835614"/>
            <a:ext cx="3698100" cy="939900"/>
          </a:xfrm>
          <a:prstGeom prst="roundRect">
            <a:avLst>
              <a:gd fmla="val 6557" name="adj"/>
            </a:avLst>
          </a:prstGeom>
          <a:solidFill>
            <a:srgbClr val="F8FAFC"/>
          </a:solidFill>
          <a:ln cap="flat" cmpd="sng" w="14275">
            <a:solidFill>
              <a:srgbClr val="DDE3EA"/>
            </a:solidFill>
            <a:prstDash val="solid"/>
            <a:round/>
            <a:headEnd len="sm" w="sm" type="none"/>
            <a:tailEnd len="sm" w="sm" type="none"/>
          </a:ln>
        </p:spPr>
        <p:txBody>
          <a:bodyPr anchorCtr="0" anchor="ctr" bIns="77025" lIns="77025" spcFirstLastPara="1" rIns="77025" wrap="square" tIns="77025">
            <a:noAutofit/>
          </a:bodyPr>
          <a:lstStyle/>
          <a:p>
            <a:pPr indent="0" lvl="0" marL="0" rtl="0" algn="l">
              <a:spcBef>
                <a:spcPts val="0"/>
              </a:spcBef>
              <a:spcAft>
                <a:spcPts val="0"/>
              </a:spcAft>
              <a:buNone/>
            </a:pPr>
            <a:r>
              <a:t/>
            </a:r>
            <a:endParaRPr/>
          </a:p>
        </p:txBody>
      </p:sp>
      <p:sp>
        <p:nvSpPr>
          <p:cNvPr id="225" name="Google Shape;225;p27"/>
          <p:cNvSpPr/>
          <p:nvPr/>
        </p:nvSpPr>
        <p:spPr>
          <a:xfrm>
            <a:off x="5158975" y="2943258"/>
            <a:ext cx="2083800" cy="3081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1573"/>
              <a:buFont typeface="Arial"/>
              <a:buNone/>
            </a:pPr>
            <a:r>
              <a:rPr b="1" i="0" lang="en" sz="1573" u="none" cap="none" strike="noStrike">
                <a:solidFill>
                  <a:srgbClr val="C85C5C"/>
                </a:solidFill>
              </a:rPr>
              <a:t>PolicyAssessment</a:t>
            </a:r>
            <a:endParaRPr b="1" i="0" sz="1573" u="none" cap="none" strike="noStrike">
              <a:solidFill>
                <a:schemeClr val="dk1"/>
              </a:solidFill>
            </a:endParaRPr>
          </a:p>
        </p:txBody>
      </p:sp>
      <p:sp>
        <p:nvSpPr>
          <p:cNvPr id="226" name="Google Shape;226;p27"/>
          <p:cNvSpPr/>
          <p:nvPr/>
        </p:nvSpPr>
        <p:spPr>
          <a:xfrm>
            <a:off x="5158978" y="3297860"/>
            <a:ext cx="3004800" cy="3081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36"/>
              <a:buFont typeface="Arial"/>
              <a:buNone/>
            </a:pPr>
            <a:r>
              <a:rPr b="0" i="0" lang="en" sz="1236" u="none" cap="none" strike="noStrike">
                <a:solidFill>
                  <a:srgbClr val="1F2937"/>
                </a:solidFill>
                <a:latin typeface="Arial"/>
                <a:ea typeface="Arial"/>
                <a:cs typeface="Arial"/>
                <a:sym typeface="Arial"/>
              </a:rPr>
              <a:t>One specific check, such as ACH, humidity, or temperature.</a:t>
            </a:r>
            <a:endParaRPr b="0" i="0" sz="1236" u="none" cap="none" strike="noStrike">
              <a:solidFill>
                <a:schemeClr val="dk1"/>
              </a:solidFill>
              <a:latin typeface="Arial"/>
              <a:ea typeface="Arial"/>
              <a:cs typeface="Arial"/>
              <a:sym typeface="Arial"/>
            </a:endParaRPr>
          </a:p>
        </p:txBody>
      </p:sp>
      <p:sp>
        <p:nvSpPr>
          <p:cNvPr id="227" name="Google Shape;227;p27"/>
          <p:cNvSpPr/>
          <p:nvPr/>
        </p:nvSpPr>
        <p:spPr>
          <a:xfrm>
            <a:off x="411491" y="4834890"/>
            <a:ext cx="2880437"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7"/>
              </a:buClr>
              <a:buSzPts val="600"/>
              <a:buFont typeface="Arial"/>
              <a:buNone/>
            </a:pPr>
            <a:r>
              <a:rPr b="0" i="0" lang="en" sz="600" u="none" cap="none" strike="noStrike">
                <a:solidFill>
                  <a:srgbClr val="7A7F87"/>
                </a:solidFill>
                <a:latin typeface="Arial"/>
                <a:ea typeface="Arial"/>
                <a:cs typeface="Arial"/>
                <a:sym typeface="Arial"/>
              </a:rPr>
              <a:t>HVCC Conceptual Model · Red Part · 4</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2" name="Shape 232"/>
        <p:cNvGrpSpPr/>
        <p:nvPr/>
      </p:nvGrpSpPr>
      <p:grpSpPr>
        <a:xfrm>
          <a:off x="0" y="0"/>
          <a:ext cx="0" cy="0"/>
          <a:chOff x="0" y="0"/>
          <a:chExt cx="0" cy="0"/>
        </a:xfrm>
      </p:grpSpPr>
      <p:sp>
        <p:nvSpPr>
          <p:cNvPr id="233" name="Google Shape;233;p28"/>
          <p:cNvSpPr/>
          <p:nvPr/>
        </p:nvSpPr>
        <p:spPr>
          <a:xfrm>
            <a:off x="0" y="0"/>
            <a:ext cx="9144015" cy="82296"/>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8"/>
          <p:cNvSpPr/>
          <p:nvPr/>
        </p:nvSpPr>
        <p:spPr>
          <a:xfrm>
            <a:off x="411491" y="240030"/>
            <a:ext cx="7681165" cy="37719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3557"/>
              </a:buClr>
              <a:buSzPts val="2000"/>
              <a:buFont typeface="Play"/>
              <a:buNone/>
            </a:pPr>
            <a:r>
              <a:rPr b="1" i="0" lang="en" sz="2000" u="none" cap="none" strike="noStrike">
                <a:solidFill>
                  <a:srgbClr val="1D3557"/>
                </a:solidFill>
                <a:latin typeface="Play"/>
                <a:ea typeface="Play"/>
                <a:cs typeface="Play"/>
                <a:sym typeface="Play"/>
              </a:rPr>
              <a:t>Example: actual value vs required value</a:t>
            </a:r>
            <a:endParaRPr b="0" i="0" sz="2000" u="none" cap="none" strike="noStrike">
              <a:solidFill>
                <a:schemeClr val="dk1"/>
              </a:solidFill>
              <a:latin typeface="Arial"/>
              <a:ea typeface="Arial"/>
              <a:cs typeface="Arial"/>
              <a:sym typeface="Arial"/>
            </a:endParaRPr>
          </a:p>
        </p:txBody>
      </p:sp>
      <p:sp>
        <p:nvSpPr>
          <p:cNvPr id="235" name="Google Shape;235;p28"/>
          <p:cNvSpPr/>
          <p:nvPr/>
        </p:nvSpPr>
        <p:spPr>
          <a:xfrm>
            <a:off x="425207" y="630936"/>
            <a:ext cx="6721019"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6370"/>
              </a:buClr>
              <a:buSzPts val="1000"/>
              <a:buFont typeface="Arial"/>
              <a:buNone/>
            </a:pPr>
            <a:r>
              <a:rPr b="0" i="0" lang="en" sz="1300" u="none" cap="none" strike="noStrike">
                <a:solidFill>
                  <a:srgbClr val="5C6370"/>
                </a:solidFill>
                <a:latin typeface="Arial"/>
                <a:ea typeface="Arial"/>
                <a:cs typeface="Arial"/>
                <a:sym typeface="Arial"/>
              </a:rPr>
              <a:t>This is the easiest way to explain the whole red part.</a:t>
            </a:r>
            <a:endParaRPr b="0" i="0" sz="1300" u="none" cap="none" strike="noStrike">
              <a:solidFill>
                <a:schemeClr val="dk1"/>
              </a:solidFill>
              <a:latin typeface="Arial"/>
              <a:ea typeface="Arial"/>
              <a:cs typeface="Arial"/>
              <a:sym typeface="Arial"/>
            </a:endParaRPr>
          </a:p>
        </p:txBody>
      </p:sp>
      <p:sp>
        <p:nvSpPr>
          <p:cNvPr id="236" name="Google Shape;236;p28"/>
          <p:cNvSpPr/>
          <p:nvPr/>
        </p:nvSpPr>
        <p:spPr>
          <a:xfrm>
            <a:off x="557700" y="1364648"/>
            <a:ext cx="1748700" cy="715500"/>
          </a:xfrm>
          <a:prstGeom prst="roundRect">
            <a:avLst>
              <a:gd fmla="val 8889" name="adj"/>
            </a:avLst>
          </a:prstGeom>
          <a:solidFill>
            <a:srgbClr val="EDEBFA"/>
          </a:solidFill>
          <a:ln cap="flat" cmpd="sng" w="17650">
            <a:solidFill>
              <a:srgbClr val="6A5ACD"/>
            </a:solidFill>
            <a:prstDash val="solid"/>
            <a:round/>
            <a:headEnd len="sm" w="sm" type="none"/>
            <a:tailEnd len="sm" w="sm" type="none"/>
          </a:ln>
        </p:spPr>
        <p:txBody>
          <a:bodyPr anchorCtr="0" anchor="ctr" bIns="79475" lIns="79475" spcFirstLastPara="1" rIns="79475" wrap="square" tIns="79475">
            <a:noAutofit/>
          </a:bodyPr>
          <a:lstStyle/>
          <a:p>
            <a:pPr indent="0" lvl="0" marL="0" rtl="0" algn="l">
              <a:spcBef>
                <a:spcPts val="0"/>
              </a:spcBef>
              <a:spcAft>
                <a:spcPts val="0"/>
              </a:spcAft>
              <a:buNone/>
            </a:pPr>
            <a:r>
              <a:t/>
            </a:r>
            <a:endParaRPr/>
          </a:p>
        </p:txBody>
      </p:sp>
      <p:sp>
        <p:nvSpPr>
          <p:cNvPr id="237" name="Google Shape;237;p28"/>
          <p:cNvSpPr/>
          <p:nvPr/>
        </p:nvSpPr>
        <p:spPr>
          <a:xfrm>
            <a:off x="621293" y="1428241"/>
            <a:ext cx="1621500" cy="5883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Measurement</a:t>
            </a:r>
            <a:endParaRPr b="0" i="0" sz="1391"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actual ACH = 8</a:t>
            </a:r>
            <a:endParaRPr b="0" i="0" sz="1391" u="none" cap="none" strike="noStrike">
              <a:solidFill>
                <a:schemeClr val="dk1"/>
              </a:solidFill>
              <a:latin typeface="Arial"/>
              <a:ea typeface="Arial"/>
              <a:cs typeface="Arial"/>
              <a:sym typeface="Arial"/>
            </a:endParaRPr>
          </a:p>
        </p:txBody>
      </p:sp>
      <p:sp>
        <p:nvSpPr>
          <p:cNvPr id="238" name="Google Shape;238;p28"/>
          <p:cNvSpPr/>
          <p:nvPr/>
        </p:nvSpPr>
        <p:spPr>
          <a:xfrm>
            <a:off x="2448926" y="1463191"/>
            <a:ext cx="891000" cy="50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1024"/>
              <a:buFont typeface="Arial"/>
              <a:buNone/>
            </a:pPr>
            <a:r>
              <a:rPr b="0" i="0" lang="en" sz="1504" u="none" cap="none" strike="noStrike">
                <a:solidFill>
                  <a:srgbClr val="5C6370"/>
                </a:solidFill>
                <a:latin typeface="Arial"/>
                <a:ea typeface="Arial"/>
                <a:cs typeface="Arial"/>
                <a:sym typeface="Arial"/>
              </a:rPr>
              <a:t>compared with</a:t>
            </a:r>
            <a:endParaRPr b="0" i="0" sz="1504" u="none" cap="none" strike="noStrike">
              <a:solidFill>
                <a:schemeClr val="dk1"/>
              </a:solidFill>
              <a:latin typeface="Arial"/>
              <a:ea typeface="Arial"/>
              <a:cs typeface="Arial"/>
              <a:sym typeface="Arial"/>
            </a:endParaRPr>
          </a:p>
        </p:txBody>
      </p:sp>
      <p:sp>
        <p:nvSpPr>
          <p:cNvPr id="239" name="Google Shape;239;p28"/>
          <p:cNvSpPr/>
          <p:nvPr/>
        </p:nvSpPr>
        <p:spPr>
          <a:xfrm>
            <a:off x="3488687" y="1337300"/>
            <a:ext cx="1948200" cy="715500"/>
          </a:xfrm>
          <a:prstGeom prst="roundRect">
            <a:avLst>
              <a:gd fmla="val 8889" name="adj"/>
            </a:avLst>
          </a:prstGeom>
          <a:solidFill>
            <a:srgbClr val="F8E8E8"/>
          </a:solidFill>
          <a:ln cap="flat" cmpd="sng" w="17650">
            <a:solidFill>
              <a:srgbClr val="C85C5C"/>
            </a:solidFill>
            <a:prstDash val="solid"/>
            <a:round/>
            <a:headEnd len="sm" w="sm" type="none"/>
            <a:tailEnd len="sm" w="sm" type="none"/>
          </a:ln>
        </p:spPr>
        <p:txBody>
          <a:bodyPr anchorCtr="0" anchor="ctr" bIns="79500" lIns="79500" spcFirstLastPara="1" rIns="79500" wrap="square" tIns="79500">
            <a:noAutofit/>
          </a:bodyPr>
          <a:lstStyle/>
          <a:p>
            <a:pPr indent="0" lvl="0" marL="0" rtl="0" algn="l">
              <a:spcBef>
                <a:spcPts val="0"/>
              </a:spcBef>
              <a:spcAft>
                <a:spcPts val="0"/>
              </a:spcAft>
              <a:buNone/>
            </a:pPr>
            <a:r>
              <a:t/>
            </a:r>
            <a:endParaRPr/>
          </a:p>
        </p:txBody>
      </p:sp>
      <p:sp>
        <p:nvSpPr>
          <p:cNvPr id="240" name="Google Shape;240;p28"/>
          <p:cNvSpPr/>
          <p:nvPr/>
        </p:nvSpPr>
        <p:spPr>
          <a:xfrm>
            <a:off x="3552295" y="1400907"/>
            <a:ext cx="1820700" cy="5883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CompliancePolicy</a:t>
            </a:r>
            <a:endParaRPr b="0" i="0" sz="1391"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minimum ACH = 12</a:t>
            </a:r>
            <a:endParaRPr b="0" i="0" sz="1391" u="none" cap="none" strike="noStrike">
              <a:solidFill>
                <a:schemeClr val="dk1"/>
              </a:solidFill>
              <a:latin typeface="Arial"/>
              <a:ea typeface="Arial"/>
              <a:cs typeface="Arial"/>
              <a:sym typeface="Arial"/>
            </a:endParaRPr>
          </a:p>
        </p:txBody>
      </p:sp>
      <p:sp>
        <p:nvSpPr>
          <p:cNvPr id="241" name="Google Shape;241;p28"/>
          <p:cNvSpPr/>
          <p:nvPr/>
        </p:nvSpPr>
        <p:spPr>
          <a:xfrm>
            <a:off x="5487275" y="1603276"/>
            <a:ext cx="437100" cy="23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C6370"/>
              </a:buClr>
              <a:buSzPts val="2434"/>
              <a:buFont typeface="Arial"/>
              <a:buNone/>
            </a:pPr>
            <a:r>
              <a:rPr b="1" i="0" lang="en" sz="2434" u="none" cap="none" strike="noStrike">
                <a:solidFill>
                  <a:srgbClr val="5C6370"/>
                </a:solidFill>
                <a:latin typeface="Arial"/>
                <a:ea typeface="Arial"/>
                <a:cs typeface="Arial"/>
                <a:sym typeface="Arial"/>
              </a:rPr>
              <a:t>→</a:t>
            </a:r>
            <a:endParaRPr b="0" i="0" sz="2434" u="none" cap="none" strike="noStrike">
              <a:solidFill>
                <a:schemeClr val="dk1"/>
              </a:solidFill>
              <a:latin typeface="Arial"/>
              <a:ea typeface="Arial"/>
              <a:cs typeface="Arial"/>
              <a:sym typeface="Arial"/>
            </a:endParaRPr>
          </a:p>
        </p:txBody>
      </p:sp>
      <p:sp>
        <p:nvSpPr>
          <p:cNvPr id="242" name="Google Shape;242;p28"/>
          <p:cNvSpPr/>
          <p:nvPr/>
        </p:nvSpPr>
        <p:spPr>
          <a:xfrm>
            <a:off x="6083547" y="1337298"/>
            <a:ext cx="2424900" cy="715500"/>
          </a:xfrm>
          <a:prstGeom prst="roundRect">
            <a:avLst>
              <a:gd fmla="val 8889" name="adj"/>
            </a:avLst>
          </a:prstGeom>
          <a:solidFill>
            <a:srgbClr val="FFF6D8"/>
          </a:solidFill>
          <a:ln cap="flat" cmpd="sng" w="17650">
            <a:solidFill>
              <a:srgbClr val="BFA43A"/>
            </a:solidFill>
            <a:prstDash val="solid"/>
            <a:round/>
            <a:headEnd len="sm" w="sm" type="none"/>
            <a:tailEnd len="sm" w="sm" type="none"/>
          </a:ln>
        </p:spPr>
        <p:txBody>
          <a:bodyPr anchorCtr="0" anchor="ctr" bIns="79500" lIns="79500" spcFirstLastPara="1" rIns="79500" wrap="square" tIns="79500">
            <a:noAutofit/>
          </a:bodyPr>
          <a:lstStyle/>
          <a:p>
            <a:pPr indent="0" lvl="0" marL="0" rtl="0" algn="l">
              <a:spcBef>
                <a:spcPts val="0"/>
              </a:spcBef>
              <a:spcAft>
                <a:spcPts val="0"/>
              </a:spcAft>
              <a:buNone/>
            </a:pPr>
            <a:r>
              <a:t/>
            </a:r>
            <a:endParaRPr/>
          </a:p>
        </p:txBody>
      </p:sp>
      <p:sp>
        <p:nvSpPr>
          <p:cNvPr id="243" name="Google Shape;243;p28"/>
          <p:cNvSpPr/>
          <p:nvPr/>
        </p:nvSpPr>
        <p:spPr>
          <a:xfrm>
            <a:off x="6147148" y="1400898"/>
            <a:ext cx="2297700" cy="588300"/>
          </a:xfrm>
          <a:prstGeom prst="rect">
            <a:avLst/>
          </a:prstGeom>
          <a:noFill/>
          <a:ln>
            <a:noFill/>
          </a:ln>
        </p:spPr>
        <p:txBody>
          <a:bodyPr anchorCtr="0" anchor="ctr" bIns="225" lIns="225" spcFirstLastPara="1" rIns="225" wrap="square" tIns="225">
            <a:noAutofit/>
          </a:bodyPr>
          <a:lstStyle/>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PolicyAssessment</a:t>
            </a:r>
            <a:endParaRPr b="0" i="0" sz="1391"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1F2937"/>
              </a:buClr>
              <a:buSzPts val="1391"/>
              <a:buFont typeface="Arial"/>
              <a:buNone/>
            </a:pPr>
            <a:r>
              <a:rPr b="1" i="0" lang="en" sz="1391" u="none" cap="none" strike="noStrike">
                <a:solidFill>
                  <a:srgbClr val="1F2937"/>
                </a:solidFill>
                <a:latin typeface="Arial"/>
                <a:ea typeface="Arial"/>
                <a:cs typeface="Arial"/>
                <a:sym typeface="Arial"/>
              </a:rPr>
              <a:t>8 &lt; 12 → Non-compliant</a:t>
            </a:r>
            <a:endParaRPr b="0" i="0" sz="1391" u="none" cap="none" strike="noStrike">
              <a:solidFill>
                <a:schemeClr val="dk1"/>
              </a:solidFill>
              <a:latin typeface="Arial"/>
              <a:ea typeface="Arial"/>
              <a:cs typeface="Arial"/>
              <a:sym typeface="Arial"/>
            </a:endParaRPr>
          </a:p>
        </p:txBody>
      </p:sp>
      <p:sp>
        <p:nvSpPr>
          <p:cNvPr id="244" name="Google Shape;244;p28"/>
          <p:cNvSpPr/>
          <p:nvPr/>
        </p:nvSpPr>
        <p:spPr>
          <a:xfrm>
            <a:off x="635551" y="2827565"/>
            <a:ext cx="7872900" cy="1134300"/>
          </a:xfrm>
          <a:prstGeom prst="roundRect">
            <a:avLst>
              <a:gd fmla="val 6667" name="adj"/>
            </a:avLst>
          </a:prstGeom>
          <a:solidFill>
            <a:srgbClr val="F8FAFC"/>
          </a:solidFill>
          <a:ln cap="flat" cmpd="sng" w="12700">
            <a:solidFill>
              <a:srgbClr val="DDE3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5" name="Google Shape;245;p28"/>
          <p:cNvSpPr/>
          <p:nvPr/>
        </p:nvSpPr>
        <p:spPr>
          <a:xfrm>
            <a:off x="934801" y="3105137"/>
            <a:ext cx="1371600" cy="507600"/>
          </a:xfrm>
          <a:prstGeom prst="rect">
            <a:avLst/>
          </a:prstGeom>
          <a:solidFill>
            <a:srgbClr val="F8FAFC"/>
          </a:solidFill>
          <a:ln>
            <a:noFill/>
          </a:ln>
        </p:spPr>
        <p:txBody>
          <a:bodyPr anchorCtr="0" anchor="ctr" bIns="0" lIns="0" spcFirstLastPara="1" rIns="0" wrap="square" tIns="0">
            <a:noAutofit/>
          </a:bodyPr>
          <a:lstStyle/>
          <a:p>
            <a:pPr indent="0" lvl="0" marL="0" marR="0" rtl="0" algn="ctr">
              <a:spcBef>
                <a:spcPts val="0"/>
              </a:spcBef>
              <a:spcAft>
                <a:spcPts val="0"/>
              </a:spcAft>
              <a:buClr>
                <a:srgbClr val="1D3557"/>
              </a:buClr>
              <a:buSzPts val="1400"/>
              <a:buFont typeface="Arial"/>
              <a:buNone/>
            </a:pPr>
            <a:r>
              <a:rPr b="1" i="0" lang="en" sz="1700" u="none" cap="none" strike="noStrike">
                <a:solidFill>
                  <a:srgbClr val="C85C5C"/>
                </a:solidFill>
                <a:latin typeface="Arial"/>
                <a:ea typeface="Arial"/>
                <a:cs typeface="Arial"/>
                <a:sym typeface="Arial"/>
              </a:rPr>
              <a:t>Final takeaway</a:t>
            </a:r>
            <a:endParaRPr b="0" i="0" sz="1700" u="none" cap="none" strike="noStrike">
              <a:solidFill>
                <a:srgbClr val="C85C5C"/>
              </a:solidFill>
              <a:latin typeface="Arial"/>
              <a:ea typeface="Arial"/>
              <a:cs typeface="Arial"/>
              <a:sym typeface="Arial"/>
            </a:endParaRPr>
          </a:p>
        </p:txBody>
      </p:sp>
      <p:sp>
        <p:nvSpPr>
          <p:cNvPr id="246" name="Google Shape;246;p28"/>
          <p:cNvSpPr/>
          <p:nvPr/>
        </p:nvSpPr>
        <p:spPr>
          <a:xfrm>
            <a:off x="2571825" y="3052100"/>
            <a:ext cx="5706000" cy="617100"/>
          </a:xfrm>
          <a:prstGeom prst="rect">
            <a:avLst/>
          </a:prstGeom>
          <a:solidFill>
            <a:srgbClr val="F8FAFC"/>
          </a:solidFill>
          <a:ln>
            <a:noFill/>
          </a:ln>
        </p:spPr>
        <p:txBody>
          <a:bodyPr anchorCtr="0" anchor="ctr" bIns="0" lIns="0" spcFirstLastPara="1" rIns="0" wrap="square" tIns="0">
            <a:noAutofit/>
          </a:bodyPr>
          <a:lstStyle/>
          <a:p>
            <a:pPr indent="0" lvl="0" marL="0" marR="0" rtl="0" algn="l">
              <a:spcBef>
                <a:spcPts val="0"/>
              </a:spcBef>
              <a:spcAft>
                <a:spcPts val="0"/>
              </a:spcAft>
              <a:buClr>
                <a:srgbClr val="1F2937"/>
              </a:buClr>
              <a:buSzPts val="1200"/>
              <a:buFont typeface="Arial"/>
              <a:buNone/>
            </a:pPr>
            <a:r>
              <a:rPr b="0" i="0" lang="en" sz="1500" u="none" cap="none" strike="noStrike">
                <a:solidFill>
                  <a:schemeClr val="dk1"/>
                </a:solidFill>
                <a:latin typeface="Arial"/>
                <a:ea typeface="Arial"/>
                <a:cs typeface="Arial"/>
                <a:sym typeface="Arial"/>
              </a:rPr>
              <a:t>My red part connects the physical HVAC system, measured building data, and compliance rules so the ontology can support automated compliance assessment.</a:t>
            </a:r>
            <a:endParaRPr b="0" i="0" sz="1500" u="none" cap="none" strike="noStrike">
              <a:solidFill>
                <a:schemeClr val="dk1"/>
              </a:solidFill>
              <a:latin typeface="Arial"/>
              <a:ea typeface="Arial"/>
              <a:cs typeface="Arial"/>
              <a:sym typeface="Arial"/>
            </a:endParaRPr>
          </a:p>
        </p:txBody>
      </p:sp>
      <p:sp>
        <p:nvSpPr>
          <p:cNvPr id="247" name="Google Shape;247;p28"/>
          <p:cNvSpPr/>
          <p:nvPr/>
        </p:nvSpPr>
        <p:spPr>
          <a:xfrm>
            <a:off x="411491" y="4834890"/>
            <a:ext cx="2880437"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7F87"/>
              </a:buClr>
              <a:buSzPts val="600"/>
              <a:buFont typeface="Arial"/>
              <a:buNone/>
            </a:pPr>
            <a:r>
              <a:rPr b="0" i="0" lang="en" sz="600" u="none" cap="none" strike="noStrike">
                <a:solidFill>
                  <a:srgbClr val="7A7F87"/>
                </a:solidFill>
                <a:latin typeface="Arial"/>
                <a:ea typeface="Arial"/>
                <a:cs typeface="Arial"/>
                <a:sym typeface="Arial"/>
              </a:rPr>
              <a:t>HVCC Conceptual Model · Red Part · 5</a:t>
            </a:r>
            <a:endParaRPr b="0" i="0" sz="6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type="title"/>
          </p:nvPr>
        </p:nvSpPr>
        <p:spPr>
          <a:xfrm>
            <a:off x="311700" y="225950"/>
            <a:ext cx="8520600" cy="77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D3557"/>
                </a:solidFill>
                <a:latin typeface="Play"/>
                <a:ea typeface="Play"/>
                <a:cs typeface="Play"/>
                <a:sym typeface="Play"/>
              </a:rPr>
              <a:t>GenAI Use</a:t>
            </a:r>
            <a:endParaRPr b="1"/>
          </a:p>
        </p:txBody>
      </p:sp>
      <p:sp>
        <p:nvSpPr>
          <p:cNvPr id="253" name="Google Shape;253;p29"/>
          <p:cNvSpPr/>
          <p:nvPr/>
        </p:nvSpPr>
        <p:spPr>
          <a:xfrm>
            <a:off x="0" y="0"/>
            <a:ext cx="9144000" cy="82200"/>
          </a:xfrm>
          <a:prstGeom prst="rect">
            <a:avLst/>
          </a:prstGeom>
          <a:solidFill>
            <a:srgbClr val="C85C5C"/>
          </a:solidFill>
          <a:ln cap="flat" cmpd="sng" w="12700">
            <a:solidFill>
              <a:srgbClr val="C85C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b="1"/>
          </a:p>
        </p:txBody>
      </p:sp>
      <p:sp>
        <p:nvSpPr>
          <p:cNvPr id="254" name="Google Shape;254;p29"/>
          <p:cNvSpPr/>
          <p:nvPr/>
        </p:nvSpPr>
        <p:spPr>
          <a:xfrm>
            <a:off x="413475" y="656410"/>
            <a:ext cx="2045100" cy="295500"/>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Clr>
                <a:srgbClr val="C85C5C"/>
              </a:buClr>
              <a:buSzPts val="2569"/>
              <a:buFont typeface="Arial"/>
              <a:buNone/>
            </a:pPr>
            <a:r>
              <a:rPr b="1" lang="en" sz="1397">
                <a:solidFill>
                  <a:srgbClr val="C85C5C"/>
                </a:solidFill>
              </a:rPr>
              <a:t>Model: Gemini </a:t>
            </a:r>
            <a:endParaRPr b="0" i="0" sz="1397" u="none" cap="none" strike="noStrike">
              <a:solidFill>
                <a:schemeClr val="dk1"/>
              </a:solidFill>
              <a:latin typeface="Arial"/>
              <a:ea typeface="Arial"/>
              <a:cs typeface="Arial"/>
              <a:sym typeface="Arial"/>
            </a:endParaRPr>
          </a:p>
        </p:txBody>
      </p:sp>
      <p:sp>
        <p:nvSpPr>
          <p:cNvPr id="255" name="Google Shape;255;p29"/>
          <p:cNvSpPr/>
          <p:nvPr/>
        </p:nvSpPr>
        <p:spPr>
          <a:xfrm>
            <a:off x="413475" y="1526100"/>
            <a:ext cx="2744700" cy="261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F2937"/>
              </a:buClr>
              <a:buSzPts val="1598"/>
              <a:buFont typeface="Arial"/>
              <a:buNone/>
            </a:pPr>
            <a:r>
              <a:rPr lang="en" sz="1620">
                <a:solidFill>
                  <a:schemeClr val="dk1"/>
                </a:solidFill>
              </a:rPr>
              <a:t>Utilized Gemini to structure the explanation of my conceptual diagram. The model helped me break down the technical pathways so I could clearly demonstrate to the audience how the diagram answers our competency question.</a:t>
            </a:r>
            <a:endParaRPr sz="2019">
              <a:solidFill>
                <a:srgbClr val="1F2937"/>
              </a:solidFill>
            </a:endParaRPr>
          </a:p>
        </p:txBody>
      </p:sp>
      <p:pic>
        <p:nvPicPr>
          <p:cNvPr id="256" name="Google Shape;256;p29"/>
          <p:cNvPicPr preferRelativeResize="0"/>
          <p:nvPr/>
        </p:nvPicPr>
        <p:blipFill>
          <a:blip r:embed="rId3">
            <a:alphaModFix/>
          </a:blip>
          <a:stretch>
            <a:fillRect/>
          </a:stretch>
        </p:blipFill>
        <p:spPr>
          <a:xfrm>
            <a:off x="4494975" y="326925"/>
            <a:ext cx="3727425" cy="4584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